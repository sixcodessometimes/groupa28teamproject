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9" r:id="rId5"/>
    <p:sldId id="340" r:id="rId6"/>
    <p:sldId id="329" r:id="rId7"/>
    <p:sldId id="336" r:id="rId8"/>
    <p:sldId id="34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20203A-FCFE-6937-1605-D0DCC040535B}" v="614" dt="2025-11-17T09:54:25.981"/>
    <p1510:client id="{D84E1EFF-4CA9-A152-70A5-675D8E7937F9}" v="19" dt="2025-11-17T14:07:12.2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 orient="horz" pos="3249"/>
        <p:guide pos="7068"/>
        <p:guide orient="horz" pos="138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nt Zwe Naing [Student-PECS]" userId="S::kn24abc@herts.ac.uk::8454762f-2936-43f3-8873-85b9058faef2" providerId="AD" clId="Web-{2D20203A-FCFE-6937-1605-D0DCC040535B}"/>
    <pc:docChg chg="delSld modSld">
      <pc:chgData name="Khant Zwe Naing [Student-PECS]" userId="S::kn24abc@herts.ac.uk::8454762f-2936-43f3-8873-85b9058faef2" providerId="AD" clId="Web-{2D20203A-FCFE-6937-1605-D0DCC040535B}" dt="2025-11-17T09:54:25.981" v="498" actId="20577"/>
      <pc:docMkLst>
        <pc:docMk/>
      </pc:docMkLst>
      <pc:sldChg chg="modSp">
        <pc:chgData name="Khant Zwe Naing [Student-PECS]" userId="S::kn24abc@herts.ac.uk::8454762f-2936-43f3-8873-85b9058faef2" providerId="AD" clId="Web-{2D20203A-FCFE-6937-1605-D0DCC040535B}" dt="2025-11-17T09:52:16.741" v="471" actId="20577"/>
        <pc:sldMkLst>
          <pc:docMk/>
          <pc:sldMk cId="4148532546" sldId="289"/>
        </pc:sldMkLst>
        <pc:spChg chg="mod">
          <ac:chgData name="Khant Zwe Naing [Student-PECS]" userId="S::kn24abc@herts.ac.uk::8454762f-2936-43f3-8873-85b9058faef2" providerId="AD" clId="Web-{2D20203A-FCFE-6937-1605-D0DCC040535B}" dt="2025-11-17T09:19:20.891" v="24" actId="20577"/>
          <ac:spMkLst>
            <pc:docMk/>
            <pc:sldMk cId="4148532546" sldId="289"/>
            <ac:spMk id="2" creationId="{3440AEE4-CC66-FE42-B0C3-2CC7AFD37D1C}"/>
          </ac:spMkLst>
        </pc:spChg>
        <pc:spChg chg="mod">
          <ac:chgData name="Khant Zwe Naing [Student-PECS]" userId="S::kn24abc@herts.ac.uk::8454762f-2936-43f3-8873-85b9058faef2" providerId="AD" clId="Web-{2D20203A-FCFE-6937-1605-D0DCC040535B}" dt="2025-11-17T09:19:13.594" v="19" actId="20577"/>
          <ac:spMkLst>
            <pc:docMk/>
            <pc:sldMk cId="4148532546" sldId="289"/>
            <ac:spMk id="3" creationId="{8275DA97-5166-7F4B-BC83-F50AC8BEDCD7}"/>
          </ac:spMkLst>
        </pc:spChg>
        <pc:spChg chg="mod">
          <ac:chgData name="Khant Zwe Naing [Student-PECS]" userId="S::kn24abc@herts.ac.uk::8454762f-2936-43f3-8873-85b9058faef2" providerId="AD" clId="Web-{2D20203A-FCFE-6937-1605-D0DCC040535B}" dt="2025-11-17T09:52:16.741" v="471" actId="20577"/>
          <ac:spMkLst>
            <pc:docMk/>
            <pc:sldMk cId="4148532546" sldId="289"/>
            <ac:spMk id="4" creationId="{6E7F4D14-5620-EC41-A86C-6CC3CFD691B4}"/>
          </ac:spMkLst>
        </pc:spChg>
      </pc:sldChg>
      <pc:sldChg chg="modSp">
        <pc:chgData name="Khant Zwe Naing [Student-PECS]" userId="S::kn24abc@herts.ac.uk::8454762f-2936-43f3-8873-85b9058faef2" providerId="AD" clId="Web-{2D20203A-FCFE-6937-1605-D0DCC040535B}" dt="2025-11-17T09:52:53.821" v="475" actId="20577"/>
        <pc:sldMkLst>
          <pc:docMk/>
          <pc:sldMk cId="1718004908" sldId="329"/>
        </pc:sldMkLst>
        <pc:spChg chg="mod">
          <ac:chgData name="Khant Zwe Naing [Student-PECS]" userId="S::kn24abc@herts.ac.uk::8454762f-2936-43f3-8873-85b9058faef2" providerId="AD" clId="Web-{2D20203A-FCFE-6937-1605-D0DCC040535B}" dt="2025-11-17T09:36:24.536" v="292" actId="20577"/>
          <ac:spMkLst>
            <pc:docMk/>
            <pc:sldMk cId="1718004908" sldId="329"/>
            <ac:spMk id="2" creationId="{7D9D8228-727F-1E46-B5AD-91D158B8255E}"/>
          </ac:spMkLst>
        </pc:spChg>
        <pc:spChg chg="mod">
          <ac:chgData name="Khant Zwe Naing [Student-PECS]" userId="S::kn24abc@herts.ac.uk::8454762f-2936-43f3-8873-85b9058faef2" providerId="AD" clId="Web-{2D20203A-FCFE-6937-1605-D0DCC040535B}" dt="2025-11-17T09:52:53.821" v="475" actId="20577"/>
          <ac:spMkLst>
            <pc:docMk/>
            <pc:sldMk cId="1718004908" sldId="329"/>
            <ac:spMk id="3" creationId="{00EBC183-8AA5-EC44-9987-D65F5C1892A1}"/>
          </ac:spMkLst>
        </pc:spChg>
        <pc:spChg chg="mod">
          <ac:chgData name="Khant Zwe Naing [Student-PECS]" userId="S::kn24abc@herts.ac.uk::8454762f-2936-43f3-8873-85b9058faef2" providerId="AD" clId="Web-{2D20203A-FCFE-6937-1605-D0DCC040535B}" dt="2025-11-17T09:44:02.979" v="365" actId="20577"/>
          <ac:spMkLst>
            <pc:docMk/>
            <pc:sldMk cId="1718004908" sldId="329"/>
            <ac:spMk id="5" creationId="{B3FA3829-F12C-214D-8FBA-7E1A740F65CA}"/>
          </ac:spMkLst>
        </pc:spChg>
      </pc:sldChg>
      <pc:sldChg chg="modSp">
        <pc:chgData name="Khant Zwe Naing [Student-PECS]" userId="S::kn24abc@herts.ac.uk::8454762f-2936-43f3-8873-85b9058faef2" providerId="AD" clId="Web-{2D20203A-FCFE-6937-1605-D0DCC040535B}" dt="2025-11-17T09:54:25.981" v="498" actId="20577"/>
        <pc:sldMkLst>
          <pc:docMk/>
          <pc:sldMk cId="32494612" sldId="336"/>
        </pc:sldMkLst>
        <pc:spChg chg="mod">
          <ac:chgData name="Khant Zwe Naing [Student-PECS]" userId="S::kn24abc@herts.ac.uk::8454762f-2936-43f3-8873-85b9058faef2" providerId="AD" clId="Web-{2D20203A-FCFE-6937-1605-D0DCC040535B}" dt="2025-11-17T09:54:17.981" v="497" actId="20577"/>
          <ac:spMkLst>
            <pc:docMk/>
            <pc:sldMk cId="32494612" sldId="336"/>
            <ac:spMk id="2" creationId="{8E3CD731-5ACF-B002-247D-243F6E2149EC}"/>
          </ac:spMkLst>
        </pc:spChg>
        <pc:spChg chg="mod">
          <ac:chgData name="Khant Zwe Naing [Student-PECS]" userId="S::kn24abc@herts.ac.uk::8454762f-2936-43f3-8873-85b9058faef2" providerId="AD" clId="Web-{2D20203A-FCFE-6937-1605-D0DCC040535B}" dt="2025-11-17T09:45:57.121" v="371" actId="20577"/>
          <ac:spMkLst>
            <pc:docMk/>
            <pc:sldMk cId="32494612" sldId="336"/>
            <ac:spMk id="3" creationId="{3C4D431B-7665-75B0-2D73-5BD588DCB766}"/>
          </ac:spMkLst>
        </pc:spChg>
        <pc:spChg chg="mod">
          <ac:chgData name="Khant Zwe Naing [Student-PECS]" userId="S::kn24abc@herts.ac.uk::8454762f-2936-43f3-8873-85b9058faef2" providerId="AD" clId="Web-{2D20203A-FCFE-6937-1605-D0DCC040535B}" dt="2025-11-17T09:54:25.981" v="498" actId="20577"/>
          <ac:spMkLst>
            <pc:docMk/>
            <pc:sldMk cId="32494612" sldId="336"/>
            <ac:spMk id="5" creationId="{3440DA25-F620-152B-DE9E-776F7B74DFF0}"/>
          </ac:spMkLst>
        </pc:spChg>
      </pc:sldChg>
      <pc:sldChg chg="del">
        <pc:chgData name="Khant Zwe Naing [Student-PECS]" userId="S::kn24abc@herts.ac.uk::8454762f-2936-43f3-8873-85b9058faef2" providerId="AD" clId="Web-{2D20203A-FCFE-6937-1605-D0DCC040535B}" dt="2025-11-17T09:49:59.029" v="426"/>
        <pc:sldMkLst>
          <pc:docMk/>
          <pc:sldMk cId="384748354" sldId="337"/>
        </pc:sldMkLst>
      </pc:sldChg>
      <pc:sldChg chg="addSp delSp modSp">
        <pc:chgData name="Khant Zwe Naing [Student-PECS]" userId="S::kn24abc@herts.ac.uk::8454762f-2936-43f3-8873-85b9058faef2" providerId="AD" clId="Web-{2D20203A-FCFE-6937-1605-D0DCC040535B}" dt="2025-11-17T09:40:27.212" v="296" actId="14100"/>
        <pc:sldMkLst>
          <pc:docMk/>
          <pc:sldMk cId="713092616" sldId="340"/>
        </pc:sldMkLst>
        <pc:spChg chg="mod">
          <ac:chgData name="Khant Zwe Naing [Student-PECS]" userId="S::kn24abc@herts.ac.uk::8454762f-2936-43f3-8873-85b9058faef2" providerId="AD" clId="Web-{2D20203A-FCFE-6937-1605-D0DCC040535B}" dt="2025-11-17T09:27:08.611" v="126" actId="1076"/>
          <ac:spMkLst>
            <pc:docMk/>
            <pc:sldMk cId="713092616" sldId="340"/>
            <ac:spMk id="2" creationId="{8E3CD731-5ACF-B002-247D-243F6E2149EC}"/>
          </ac:spMkLst>
        </pc:spChg>
        <pc:spChg chg="mod">
          <ac:chgData name="Khant Zwe Naing [Student-PECS]" userId="S::kn24abc@herts.ac.uk::8454762f-2936-43f3-8873-85b9058faef2" providerId="AD" clId="Web-{2D20203A-FCFE-6937-1605-D0DCC040535B}" dt="2025-11-17T09:27:03.705" v="125" actId="20577"/>
          <ac:spMkLst>
            <pc:docMk/>
            <pc:sldMk cId="713092616" sldId="340"/>
            <ac:spMk id="3" creationId="{3C4D431B-7665-75B0-2D73-5BD588DCB766}"/>
          </ac:spMkLst>
        </pc:spChg>
        <pc:spChg chg="add mod">
          <ac:chgData name="Khant Zwe Naing [Student-PECS]" userId="S::kn24abc@herts.ac.uk::8454762f-2936-43f3-8873-85b9058faef2" providerId="AD" clId="Web-{2D20203A-FCFE-6937-1605-D0DCC040535B}" dt="2025-11-17T09:32:47.967" v="282" actId="20577"/>
          <ac:spMkLst>
            <pc:docMk/>
            <pc:sldMk cId="713092616" sldId="340"/>
            <ac:spMk id="5" creationId="{E1AA67ED-4401-27FA-A696-405910CFB30B}"/>
          </ac:spMkLst>
        </pc:spChg>
        <pc:spChg chg="del mod ord">
          <ac:chgData name="Khant Zwe Naing [Student-PECS]" userId="S::kn24abc@herts.ac.uk::8454762f-2936-43f3-8873-85b9058faef2" providerId="AD" clId="Web-{2D20203A-FCFE-6937-1605-D0DCC040535B}" dt="2025-11-17T09:26:46.845" v="122"/>
          <ac:spMkLst>
            <pc:docMk/>
            <pc:sldMk cId="713092616" sldId="340"/>
            <ac:spMk id="8" creationId="{6E140EA5-BB03-811F-4631-603A97631914}"/>
          </ac:spMkLst>
        </pc:spChg>
        <pc:picChg chg="add del mod">
          <ac:chgData name="Khant Zwe Naing [Student-PECS]" userId="S::kn24abc@herts.ac.uk::8454762f-2936-43f3-8873-85b9058faef2" providerId="AD" clId="Web-{2D20203A-FCFE-6937-1605-D0DCC040535B}" dt="2025-11-17T09:40:13.321" v="293"/>
          <ac:picMkLst>
            <pc:docMk/>
            <pc:sldMk cId="713092616" sldId="340"/>
            <ac:picMk id="6" creationId="{B5B2D0D8-9C14-E621-749E-7A0CC16362B5}"/>
          </ac:picMkLst>
        </pc:picChg>
        <pc:picChg chg="add mod">
          <ac:chgData name="Khant Zwe Naing [Student-PECS]" userId="S::kn24abc@herts.ac.uk::8454762f-2936-43f3-8873-85b9058faef2" providerId="AD" clId="Web-{2D20203A-FCFE-6937-1605-D0DCC040535B}" dt="2025-11-17T09:40:27.212" v="296" actId="14100"/>
          <ac:picMkLst>
            <pc:docMk/>
            <pc:sldMk cId="713092616" sldId="340"/>
            <ac:picMk id="7" creationId="{9CDA2A9B-4D1C-DFC7-7959-5956FDD42067}"/>
          </ac:picMkLst>
        </pc:picChg>
      </pc:sldChg>
      <pc:sldChg chg="modSp">
        <pc:chgData name="Khant Zwe Naing [Student-PECS]" userId="S::kn24abc@herts.ac.uk::8454762f-2936-43f3-8873-85b9058faef2" providerId="AD" clId="Web-{2D20203A-FCFE-6937-1605-D0DCC040535B}" dt="2025-11-17T09:54:04.761" v="496" actId="20577"/>
        <pc:sldMkLst>
          <pc:docMk/>
          <pc:sldMk cId="2952338475" sldId="341"/>
        </pc:sldMkLst>
        <pc:spChg chg="mod">
          <ac:chgData name="Khant Zwe Naing [Student-PECS]" userId="S::kn24abc@herts.ac.uk::8454762f-2936-43f3-8873-85b9058faef2" providerId="AD" clId="Web-{2D20203A-FCFE-6937-1605-D0DCC040535B}" dt="2025-11-17T09:54:04.761" v="496" actId="20577"/>
          <ac:spMkLst>
            <pc:docMk/>
            <pc:sldMk cId="2952338475" sldId="341"/>
            <ac:spMk id="2" creationId="{6B64221B-D6D4-E382-A91A-99FF908D5475}"/>
          </ac:spMkLst>
        </pc:spChg>
      </pc:sldChg>
    </pc:docChg>
  </pc:docChgLst>
  <pc:docChgLst>
    <pc:chgData name="Khant Zwe Naing [Student-PECS]" userId="S::kn24abc@herts.ac.uk::8454762f-2936-43f3-8873-85b9058faef2" providerId="AD" clId="Web-{D84E1EFF-4CA9-A152-70A5-675D8E7937F9}"/>
    <pc:docChg chg="modSld">
      <pc:chgData name="Khant Zwe Naing [Student-PECS]" userId="S::kn24abc@herts.ac.uk::8454762f-2936-43f3-8873-85b9058faef2" providerId="AD" clId="Web-{D84E1EFF-4CA9-A152-70A5-675D8E7937F9}" dt="2025-11-17T14:07:06.816" v="17" actId="20577"/>
      <pc:docMkLst>
        <pc:docMk/>
      </pc:docMkLst>
      <pc:sldChg chg="modSp">
        <pc:chgData name="Khant Zwe Naing [Student-PECS]" userId="S::kn24abc@herts.ac.uk::8454762f-2936-43f3-8873-85b9058faef2" providerId="AD" clId="Web-{D84E1EFF-4CA9-A152-70A5-675D8E7937F9}" dt="2025-11-17T14:07:06.816" v="17" actId="20577"/>
        <pc:sldMkLst>
          <pc:docMk/>
          <pc:sldMk cId="1718004908" sldId="329"/>
        </pc:sldMkLst>
        <pc:spChg chg="mod">
          <ac:chgData name="Khant Zwe Naing [Student-PECS]" userId="S::kn24abc@herts.ac.uk::8454762f-2936-43f3-8873-85b9058faef2" providerId="AD" clId="Web-{D84E1EFF-4CA9-A152-70A5-675D8E7937F9}" dt="2025-11-17T14:07:06.816" v="17" actId="20577"/>
          <ac:spMkLst>
            <pc:docMk/>
            <pc:sldMk cId="1718004908" sldId="329"/>
            <ac:spMk id="3" creationId="{00EBC183-8AA5-EC44-9987-D65F5C1892A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17/11/2025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17/11/2025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17 Nov 2025</a:t>
            </a:r>
            <a:br>
              <a:rPr lang="en-US" sz="8000" dirty="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vert="horz" lIns="0" tIns="0" rIns="0" bIns="0" rtlCol="0" anchor="t">
            <a:noAutofit/>
          </a:bodyPr>
          <a:lstStyle/>
          <a:p>
            <a:r>
              <a:rPr lang="en-US" sz="2000" dirty="0"/>
              <a:t>Group Name: A28                 Name of Student Presenting: Khant Zwe Naing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A28</a:t>
            </a:r>
            <a:endParaRPr lang="en-US" dirty="0"/>
          </a:p>
          <a:p>
            <a:r>
              <a:rPr lang="en-GB" dirty="0"/>
              <a:t>       Names of Student Attendees  (all group should attend to get feedback): Adeleye Francis Adewuyi, Mercy Toluwani Idowu, Jatin Kumar, Muhammad Taha Mirza, Khant Zwe Naing</a:t>
            </a:r>
            <a:endParaRPr lang="en-GB" dirty="0">
              <a:cs typeface="Arial"/>
            </a:endParaRP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06817"/>
            <a:ext cx="9753625" cy="230832"/>
          </a:xfrm>
        </p:spPr>
        <p:txBody>
          <a:bodyPr vert="horz" lIns="0" tIns="0" rIns="0" bIns="0" rtlCol="0" anchor="t">
            <a:noAutofit/>
          </a:bodyPr>
          <a:lstStyle/>
          <a:p>
            <a:pPr>
              <a:spcAft>
                <a:spcPts val="0"/>
              </a:spcAft>
            </a:pPr>
            <a:r>
              <a:rPr lang="en-GB">
                <a:solidFill>
                  <a:srgbClr val="203232"/>
                </a:solidFill>
                <a:cs typeface="Arial"/>
              </a:rPr>
              <a:t>Here is a sample of our dataset: </a:t>
            </a:r>
            <a:endParaRPr lang="en-GB" sz="180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A28</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extBox 4">
            <a:extLst>
              <a:ext uri="{FF2B5EF4-FFF2-40B4-BE49-F238E27FC236}">
                <a16:creationId xmlns:a16="http://schemas.microsoft.com/office/drawing/2014/main" id="{E1AA67ED-4401-27FA-A696-405910CFB30B}"/>
              </a:ext>
            </a:extLst>
          </p:cNvPr>
          <p:cNvSpPr txBox="1"/>
          <p:nvPr/>
        </p:nvSpPr>
        <p:spPr>
          <a:xfrm>
            <a:off x="944485" y="1705552"/>
            <a:ext cx="10310298"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dirty="0">
                <a:ea typeface="+mn-lt"/>
                <a:cs typeface="+mn-lt"/>
              </a:rPr>
              <a:t>We are using the dataset </a:t>
            </a:r>
            <a:r>
              <a:rPr lang="en-US" sz="1600" b="1" dirty="0">
                <a:ea typeface="+mn-lt"/>
                <a:cs typeface="+mn-lt"/>
              </a:rPr>
              <a:t>“cwurData.csv”</a:t>
            </a:r>
            <a:r>
              <a:rPr lang="en-US" sz="1600" dirty="0">
                <a:ea typeface="+mn-lt"/>
                <a:cs typeface="+mn-lt"/>
              </a:rPr>
              <a:t>, which contains global university ranking information.</a:t>
            </a:r>
            <a:endParaRPr lang="en-US" sz="1600" dirty="0">
              <a:cs typeface="Arial"/>
            </a:endParaRPr>
          </a:p>
          <a:p>
            <a:pPr marL="285750" indent="-285750">
              <a:buFont typeface="Arial"/>
              <a:buChar char="•"/>
            </a:pPr>
            <a:r>
              <a:rPr lang="en-US" sz="1600" dirty="0">
                <a:cs typeface="Arial"/>
              </a:rPr>
              <a:t>Columns/Variables we used for our research demo:</a:t>
            </a:r>
            <a:br>
              <a:rPr lang="en-US" sz="1600" dirty="0">
                <a:cs typeface="Arial"/>
              </a:rPr>
            </a:br>
            <a:r>
              <a:rPr lang="en-US" sz="1600" dirty="0">
                <a:cs typeface="Arial"/>
              </a:rPr>
              <a:t>Score (Dependent Variable)</a:t>
            </a:r>
            <a:br>
              <a:rPr lang="en-US" sz="1600" dirty="0">
                <a:cs typeface="Arial"/>
              </a:rPr>
            </a:br>
            <a:r>
              <a:rPr lang="en-US" sz="1600" dirty="0">
                <a:cs typeface="Arial"/>
              </a:rPr>
              <a:t>Publications (Independent Variable)</a:t>
            </a:r>
            <a:endParaRPr lang="en-US" dirty="0"/>
          </a:p>
          <a:p>
            <a:endParaRPr lang="en-US" sz="1600" dirty="0">
              <a:cs typeface="Arial"/>
            </a:endParaRPr>
          </a:p>
          <a:p>
            <a:r>
              <a:rPr lang="en-US" sz="1600" dirty="0">
                <a:cs typeface="Arial"/>
              </a:rPr>
              <a:t>Our dataset contains 2200 roles , and Here is sample five rows from our Dataset:</a:t>
            </a:r>
            <a:br>
              <a:rPr lang="en-US" sz="1600" dirty="0">
                <a:cs typeface="Arial"/>
              </a:rPr>
            </a:br>
            <a:endParaRPr lang="en-US" sz="1600" dirty="0">
              <a:cs typeface="Arial"/>
            </a:endParaRPr>
          </a:p>
        </p:txBody>
      </p:sp>
      <p:pic>
        <p:nvPicPr>
          <p:cNvPr id="7" name="Picture 6" descr="A close-up of text&#10;&#10;AI-generated content may be incorrect.">
            <a:extLst>
              <a:ext uri="{FF2B5EF4-FFF2-40B4-BE49-F238E27FC236}">
                <a16:creationId xmlns:a16="http://schemas.microsoft.com/office/drawing/2014/main" id="{9CDA2A9B-4D1C-DFC7-7959-5956FDD42067}"/>
              </a:ext>
            </a:extLst>
          </p:cNvPr>
          <p:cNvPicPr>
            <a:picLocks noChangeAspect="1"/>
          </p:cNvPicPr>
          <p:nvPr/>
        </p:nvPicPr>
        <p:blipFill>
          <a:blip r:embed="rId3"/>
          <a:stretch>
            <a:fillRect/>
          </a:stretch>
        </p:blipFill>
        <p:spPr>
          <a:xfrm>
            <a:off x="1230767" y="3427639"/>
            <a:ext cx="9213396" cy="1717221"/>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sz="1600" dirty="0">
                <a:solidFill>
                  <a:srgbClr val="FF0000"/>
                </a:solidFill>
              </a:rPr>
              <a:t>: ds276</a:t>
            </a:r>
            <a:endParaRPr lang="en-US" sz="2400" dirty="0">
              <a:solidFill>
                <a:srgbClr val="FF0000"/>
              </a:solidFill>
              <a:cs typeface="Arial"/>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81253"/>
            <a:ext cx="9129687" cy="504370"/>
          </a:xfrm>
        </p:spPr>
        <p:txBody>
          <a:bodyPr/>
          <a:lstStyle/>
          <a:p>
            <a:r>
              <a:rPr lang="en-GB" dirty="0"/>
              <a:t>7COM1079-2025  Student Group: A28  Names of Student Group Attendees: </a:t>
            </a:r>
            <a:r>
              <a:rPr lang="en-GB" dirty="0">
                <a:solidFill>
                  <a:schemeClr val="tx1"/>
                </a:solidFill>
              </a:rPr>
              <a:t>Adeleye Francis Adewuyi, Mercy Toluwani Idowu, Jatin Kumar, Muhammad Taha Mirza, Khant Zwe Naing</a:t>
            </a:r>
            <a:endParaRPr lang="en-GB">
              <a:solidFill>
                <a:schemeClr val="tx1"/>
              </a:solidFill>
              <a:cs typeface="Arial"/>
            </a:endParaRPr>
          </a:p>
          <a:p>
            <a:endParaRPr lang="en-GB" dirty="0">
              <a:cs typeface="Arial"/>
            </a:endParaRP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2699181"/>
          </a:xfrm>
        </p:spPr>
        <p:txBody>
          <a:bodyPr>
            <a:noAutofit/>
          </a:bodyPr>
          <a:lstStyle/>
          <a:p>
            <a:pPr>
              <a:lnSpc>
                <a:spcPct val="100000"/>
              </a:lnSpc>
            </a:pPr>
            <a:r>
              <a:rPr lang="en-US" sz="2400" b="0" dirty="0">
                <a:latin typeface="Calibri"/>
                <a:cs typeface="Calibri"/>
              </a:rPr>
              <a:t>This dataset is interesting to us because </a:t>
            </a:r>
            <a:r>
              <a:rPr lang="en-US" sz="2400" b="0" dirty="0">
                <a:solidFill>
                  <a:srgbClr val="FF0000"/>
                </a:solidFill>
                <a:latin typeface="Calibri"/>
                <a:cs typeface="Calibri"/>
              </a:rPr>
              <a:t>(one sentence):</a:t>
            </a:r>
            <a:r>
              <a:rPr lang="en-US" sz="2400" b="0" dirty="0">
                <a:solidFill>
                  <a:srgbClr val="FF0000"/>
                </a:solidFill>
                <a:latin typeface="Calibri"/>
                <a:ea typeface="Calibri"/>
                <a:cs typeface="Calibri"/>
              </a:rPr>
              <a:t> I</a:t>
            </a:r>
            <a:r>
              <a:rPr lang="en-US" sz="2400" b="0" dirty="0">
                <a:solidFill>
                  <a:srgbClr val="FF0000"/>
                </a:solidFill>
                <a:ea typeface="+mj-lt"/>
                <a:cs typeface="+mj-lt"/>
              </a:rPr>
              <a:t>t allows us to explore whether research productivity influences overall university performance scores.</a:t>
            </a:r>
            <a:br>
              <a:rPr lang="en-US" sz="2400" b="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i="1" dirty="0">
                <a:solidFill>
                  <a:schemeClr val="accent2">
                    <a:lumMod val="75000"/>
                  </a:schemeClr>
                </a:solidFill>
                <a:latin typeface="Calibri"/>
                <a:cs typeface="Calibri"/>
              </a:rPr>
              <a:t>From the column headings in your dataset choose ONE independent * and ONE dependent variable . </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a:t>
            </a:r>
            <a:r>
              <a:rPr lang="en-US" sz="2400" b="0" dirty="0">
                <a:solidFill>
                  <a:srgbClr val="FF0000"/>
                </a:solidFill>
                <a:ea typeface="+mj-lt"/>
                <a:cs typeface="+mj-lt"/>
              </a:rPr>
              <a:t>publications</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Independent variable datatype is (select one): </a:t>
            </a:r>
            <a:r>
              <a:rPr lang="en-US" sz="2400" b="0" dirty="0">
                <a:solidFill>
                  <a:srgbClr val="FF0000"/>
                </a:solidFill>
                <a:ea typeface="+mj-lt"/>
                <a:cs typeface="+mj-lt"/>
              </a:rPr>
              <a:t>Interval/Measurement (numeric ratio data)</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a:solidFill>
                  <a:srgbClr val="FF0000"/>
                </a:solidFill>
                <a:ea typeface="+mj-lt"/>
                <a:cs typeface="+mj-lt"/>
              </a:rPr>
              <a:t>score</a:t>
            </a:r>
            <a:r>
              <a:rPr lang="en-US" sz="2400" b="0" dirty="0">
                <a:solidFill>
                  <a:srgbClr val="FF0000"/>
                </a:solidFill>
                <a:latin typeface="Calibri"/>
                <a:cs typeface="Calibri"/>
              </a:rPr>
              <a:t>                   </a:t>
            </a:r>
            <a:br>
              <a:rPr lang="en-US" sz="2400" b="0" dirty="0">
                <a:solidFill>
                  <a:srgbClr val="FF0000"/>
                </a:solidFill>
                <a:latin typeface="Calibri"/>
                <a:cs typeface="Calibri"/>
              </a:rPr>
            </a:br>
            <a:r>
              <a:rPr lang="en-US" sz="2400" b="0" dirty="0">
                <a:latin typeface="Calibri"/>
                <a:cs typeface="Calibri"/>
              </a:rPr>
              <a:t>This Dependent variable datatype is  (select one): </a:t>
            </a:r>
            <a:r>
              <a:rPr lang="en-US" sz="2400" b="0" dirty="0">
                <a:solidFill>
                  <a:srgbClr val="FF0000"/>
                </a:solidFill>
                <a:latin typeface="Calibri"/>
                <a:cs typeface="Calibri"/>
              </a:rPr>
              <a:t>Interval/measurement data</a:t>
            </a:r>
            <a:endParaRPr lang="en-US" dirty="0">
              <a:cs typeface="Arial" panose="020B0604020202020204"/>
            </a:endParaRPr>
          </a:p>
        </p:txBody>
      </p:sp>
      <p:sp>
        <p:nvSpPr>
          <p:cNvPr id="6" name="TextBox 5">
            <a:extLst>
              <a:ext uri="{FF2B5EF4-FFF2-40B4-BE49-F238E27FC236}">
                <a16:creationId xmlns:a16="http://schemas.microsoft.com/office/drawing/2014/main" id="{732D6C0D-D649-2AA9-7741-835F3E841A25}"/>
              </a:ext>
            </a:extLst>
          </p:cNvPr>
          <p:cNvSpPr txBox="1"/>
          <p:nvPr/>
        </p:nvSpPr>
        <p:spPr>
          <a:xfrm>
            <a:off x="6766560" y="5385816"/>
            <a:ext cx="4187952" cy="1200329"/>
          </a:xfrm>
          <a:prstGeom prst="rect">
            <a:avLst/>
          </a:prstGeom>
          <a:noFill/>
        </p:spPr>
        <p:txBody>
          <a:bodyPr wrap="square" rtlCol="0">
            <a:spAutoFit/>
          </a:bodyPr>
          <a:lstStyle/>
          <a:p>
            <a:r>
              <a:rPr lang="en-GB">
                <a:solidFill>
                  <a:schemeClr val="accent2">
                    <a:lumMod val="75000"/>
                  </a:schemeClr>
                </a:solidFill>
              </a:rPr>
              <a:t>*For comparison of two nominal variables and for comparison of proportions you use two (or more) independent variables (see next slide)</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dirty="0"/>
              <a:t>Our Research Question is </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A28</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4"/>
            <a:ext cx="10640594" cy="2678085"/>
          </a:xfrm>
        </p:spPr>
        <p:txBody>
          <a:bodyPr>
            <a:noAutofit/>
          </a:bodyPr>
          <a:lstStyle/>
          <a:p>
            <a:pPr>
              <a:lnSpc>
                <a:spcPct val="100000"/>
              </a:lnSpc>
            </a:pPr>
            <a:r>
              <a:rPr lang="en-IE" sz="2400" dirty="0">
                <a:effectLst/>
                <a:latin typeface="Calibri"/>
                <a:ea typeface="Calibri"/>
                <a:cs typeface="Times New Roman"/>
              </a:rPr>
              <a:t> </a:t>
            </a:r>
            <a:r>
              <a:rPr lang="en-IE" sz="2400" b="0" dirty="0">
                <a:effectLst/>
                <a:latin typeface="Calibri"/>
                <a:ea typeface="Calibri"/>
                <a:cs typeface="Times New Roman"/>
              </a:rPr>
              <a:t>Interval/Ordinal vs Interval/Ordinal: “Is there a correlation between </a:t>
            </a:r>
            <a:r>
              <a:rPr lang="en-IE" sz="2400" b="0" dirty="0">
                <a:solidFill>
                  <a:srgbClr val="0070C0"/>
                </a:solidFill>
                <a:latin typeface="Calibri"/>
                <a:ea typeface="Calibri"/>
                <a:cs typeface="Times New Roman"/>
              </a:rPr>
              <a:t>[score]</a:t>
            </a:r>
            <a:r>
              <a:rPr lang="en-IE" sz="2400" b="0" dirty="0">
                <a:solidFill>
                  <a:srgbClr val="0070C0"/>
                </a:solidFill>
                <a:effectLst/>
                <a:latin typeface="Calibri"/>
                <a:ea typeface="Calibri"/>
                <a:cs typeface="Times New Roman"/>
              </a:rPr>
              <a:t> </a:t>
            </a:r>
            <a:r>
              <a:rPr lang="en-IE" sz="2400" b="0" dirty="0">
                <a:effectLst/>
                <a:latin typeface="Calibri"/>
                <a:ea typeface="Calibri"/>
                <a:cs typeface="Times New Roman"/>
              </a:rPr>
              <a:t>and </a:t>
            </a:r>
            <a:r>
              <a:rPr lang="en-IE" sz="2400" b="0" dirty="0">
                <a:solidFill>
                  <a:srgbClr val="0070C0"/>
                </a:solidFill>
                <a:latin typeface="Calibri"/>
                <a:ea typeface="Calibri"/>
                <a:cs typeface="Times New Roman"/>
              </a:rPr>
              <a:t>[publications]”</a:t>
            </a:r>
            <a:r>
              <a:rPr lang="en-IE" sz="2400" b="0" dirty="0">
                <a:latin typeface="Calibri"/>
                <a:ea typeface="Calibri"/>
                <a:cs typeface="Times New Roman"/>
              </a:rPr>
              <a:t>.</a:t>
            </a:r>
            <a:r>
              <a:rPr lang="en-IE" sz="2400" b="0" dirty="0">
                <a:effectLst/>
                <a:latin typeface="Calibri"/>
                <a:ea typeface="Calibri"/>
                <a:cs typeface="Times New Roman"/>
              </a:rPr>
              <a:t> </a:t>
            </a: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endParaRPr lang="en-IE" sz="2400" dirty="0">
              <a:latin typeface="Calibri"/>
              <a:ea typeface="Calibri"/>
              <a:cs typeface="Times New Roman"/>
            </a:endParaRPr>
          </a:p>
        </p:txBody>
      </p:sp>
      <p:sp>
        <p:nvSpPr>
          <p:cNvPr id="7" name="TextBox 6">
            <a:extLst>
              <a:ext uri="{FF2B5EF4-FFF2-40B4-BE49-F238E27FC236}">
                <a16:creationId xmlns:a16="http://schemas.microsoft.com/office/drawing/2014/main" id="{F7FEA660-7B39-BC91-3B96-7298CCF66DE1}"/>
              </a:ext>
            </a:extLst>
          </p:cNvPr>
          <p:cNvSpPr txBox="1"/>
          <p:nvPr/>
        </p:nvSpPr>
        <p:spPr>
          <a:xfrm>
            <a:off x="623945" y="5297755"/>
            <a:ext cx="11440040" cy="1477328"/>
          </a:xfrm>
          <a:prstGeom prst="rect">
            <a:avLst/>
          </a:prstGeom>
          <a:solidFill>
            <a:schemeClr val="bg1">
              <a:lumMod val="95000"/>
            </a:schemeClr>
          </a:solidFill>
        </p:spPr>
        <p:txBody>
          <a:bodyPr wrap="square" lIns="91440" tIns="45720" rIns="91440" bIns="45720" rtlCol="0" anchor="t">
            <a:spAutoFit/>
          </a:bodyPr>
          <a:lstStyle/>
          <a:p>
            <a:r>
              <a:rPr lang="en-GB" baseline="30000"/>
              <a:t>1</a:t>
            </a:r>
            <a:r>
              <a:rPr lang="en-GB" b="1">
                <a:latin typeface="Calibri"/>
                <a:cs typeface="Calibri"/>
              </a:rPr>
              <a:t>Correlation</a:t>
            </a:r>
            <a:r>
              <a:rPr lang="en-GB"/>
              <a:t> (</a:t>
            </a:r>
            <a:r>
              <a:rPr lang="en-IE" sz="1800">
                <a:effectLst/>
                <a:latin typeface="Calibri"/>
                <a:ea typeface="Calibri" panose="020F0502020204030204" pitchFamily="34" charset="0"/>
                <a:cs typeface="Times New Roman"/>
              </a:rPr>
              <a:t>Analysis of how </a:t>
            </a:r>
            <a:r>
              <a:rPr lang="en-IE" sz="1800">
                <a:solidFill>
                  <a:srgbClr val="FF0000"/>
                </a:solidFill>
                <a:effectLst/>
                <a:latin typeface="Calibri"/>
                <a:ea typeface="Calibri" panose="020F0502020204030204" pitchFamily="34" charset="0"/>
                <a:cs typeface="Times New Roman"/>
              </a:rPr>
              <a:t>ordinal</a:t>
            </a:r>
            <a:r>
              <a:rPr lang="en-IE">
                <a:solidFill>
                  <a:srgbClr val="FF0000"/>
                </a:solidFill>
                <a:latin typeface="Calibri"/>
                <a:ea typeface="Calibri" panose="020F0502020204030204" pitchFamily="34" charset="0"/>
                <a:cs typeface="Times New Roman"/>
              </a:rPr>
              <a:t>/</a:t>
            </a:r>
            <a:r>
              <a:rPr lang="en-IE" sz="1800">
                <a:solidFill>
                  <a:srgbClr val="FF0000"/>
                </a:solidFill>
                <a:effectLst/>
                <a:latin typeface="Calibri"/>
                <a:ea typeface="Calibri" panose="020F0502020204030204" pitchFamily="34" charset="0"/>
                <a:cs typeface="Times New Roman"/>
              </a:rPr>
              <a:t>interval </a:t>
            </a:r>
            <a:r>
              <a:rPr lang="en-IE" sz="1800">
                <a:solidFill>
                  <a:srgbClr val="00B050"/>
                </a:solidFill>
                <a:effectLst/>
                <a:latin typeface="Calibri"/>
                <a:ea typeface="Calibri" panose="020F0502020204030204" pitchFamily="34" charset="0"/>
                <a:cs typeface="Times New Roman"/>
              </a:rPr>
              <a:t>dependent var</a:t>
            </a:r>
            <a:r>
              <a:rPr lang="en-IE" sz="1800">
                <a:effectLst/>
                <a:latin typeface="Calibri"/>
                <a:ea typeface="Calibri" panose="020F0502020204030204" pitchFamily="34" charset="0"/>
                <a:cs typeface="Times New Roman"/>
              </a:rPr>
              <a:t> </a:t>
            </a:r>
            <a:r>
              <a:rPr lang="en-IE">
                <a:latin typeface="Calibri"/>
                <a:ea typeface="Calibri" panose="020F0502020204030204" pitchFamily="34" charset="0"/>
                <a:cs typeface="Times New Roman"/>
              </a:rPr>
              <a:t>correlates </a:t>
            </a:r>
            <a:r>
              <a:rPr lang="en-IE" sz="1800">
                <a:effectLst/>
                <a:latin typeface="Calibri"/>
                <a:ea typeface="Calibri" panose="020F0502020204030204" pitchFamily="34" charset="0"/>
                <a:cs typeface="Times New Roman"/>
              </a:rPr>
              <a:t>to an </a:t>
            </a:r>
            <a:r>
              <a:rPr lang="en-IE" sz="1800">
                <a:solidFill>
                  <a:srgbClr val="FF0000"/>
                </a:solidFill>
                <a:effectLst/>
                <a:latin typeface="Calibri"/>
                <a:ea typeface="Calibri" panose="020F0502020204030204" pitchFamily="34" charset="0"/>
                <a:cs typeface="Times New Roman"/>
              </a:rPr>
              <a:t>ordinal/interval </a:t>
            </a:r>
            <a:r>
              <a:rPr lang="en-IE" sz="1800">
                <a:solidFill>
                  <a:srgbClr val="00B050"/>
                </a:solidFill>
                <a:effectLst/>
                <a:latin typeface="Calibri"/>
                <a:ea typeface="Calibri" panose="020F0502020204030204" pitchFamily="34" charset="0"/>
                <a:cs typeface="Times New Roman"/>
              </a:rPr>
              <a:t>independent variable)</a:t>
            </a:r>
            <a:endParaRPr lang="en-GB">
              <a:latin typeface="Calibri"/>
              <a:cs typeface="Times New Roman"/>
            </a:endParaRPr>
          </a:p>
          <a:p>
            <a:r>
              <a:rPr lang="en-IE" sz="1800" b="1" baseline="30000">
                <a:effectLst/>
                <a:latin typeface="Calibri" panose="020F0502020204030204" pitchFamily="34" charset="0"/>
                <a:ea typeface="Calibri" panose="020F0502020204030204" pitchFamily="34" charset="0"/>
                <a:cs typeface="Times New Roman" panose="02020603050405020304" pitchFamily="18" charset="0"/>
              </a:rPr>
              <a:t>2</a:t>
            </a:r>
            <a:r>
              <a:rPr lang="en-IE" sz="1800" b="1">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a:effectLst/>
                <a:latin typeface="Calibri" panose="020F0502020204030204" pitchFamily="34" charset="0"/>
                <a:ea typeface="Calibri" panose="020F0502020204030204" pitchFamily="34" charset="0"/>
                <a:cs typeface="Times New Roman" panose="02020603050405020304" pitchFamily="18" charset="0"/>
              </a:rPr>
              <a:t> (or medians): Analysis of the difference between the mean (or median) value of a characteristic shared by members of two different populations.</a:t>
            </a:r>
          </a:p>
          <a:p>
            <a:r>
              <a:rPr lang="en-IE" sz="1800" b="1" baseline="30000">
                <a:effectLst/>
                <a:latin typeface="Calibri" panose="020F0502020204030204" pitchFamily="34" charset="0"/>
                <a:ea typeface="Calibri" panose="020F0502020204030204" pitchFamily="34" charset="0"/>
                <a:cs typeface="Times New Roman" panose="02020603050405020304" pitchFamily="18" charset="0"/>
              </a:rPr>
              <a:t>3</a:t>
            </a:r>
            <a:r>
              <a:rPr lang="en-IE" sz="1800" b="1">
                <a:effectLst/>
                <a:latin typeface="Calibri" panose="020F0502020204030204" pitchFamily="34" charset="0"/>
                <a:ea typeface="Calibri" panose="020F0502020204030204" pitchFamily="34" charset="0"/>
                <a:cs typeface="Times New Roman" panose="02020603050405020304" pitchFamily="18" charset="0"/>
              </a:rPr>
              <a:t>Comparison of proportions:</a:t>
            </a:r>
            <a:r>
              <a:rPr lang="en-IE" sz="1800">
                <a:effectLst/>
                <a:latin typeface="Calibri" panose="020F0502020204030204" pitchFamily="34" charset="0"/>
                <a:ea typeface="Calibri" panose="020F0502020204030204" pitchFamily="34" charset="0"/>
                <a:cs typeface="Times New Roman" panose="02020603050405020304" pitchFamily="18" charset="0"/>
              </a:rPr>
              <a:t> Analysis of the difference in proportions of a characteristic shared by members of two different populations. </a:t>
            </a:r>
            <a:endParaRPr lang="en-GB"/>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745911" y="1251529"/>
            <a:ext cx="10406581" cy="1391600"/>
          </a:xfrm>
        </p:spPr>
        <p:txBody>
          <a:bodyPr vert="horz" lIns="0" tIns="0" rIns="0" bIns="0" rtlCol="0" anchor="t">
            <a:noAutofit/>
          </a:bodyPr>
          <a:lstStyle/>
          <a:p>
            <a:pPr marL="457200" indent="-457200">
              <a:lnSpc>
                <a:spcPct val="100000"/>
              </a:lnSpc>
              <a:buAutoNum type="arabicPeriod"/>
            </a:pPr>
            <a:r>
              <a:rPr lang="en-GB" sz="2000" b="0" dirty="0">
                <a:solidFill>
                  <a:srgbClr val="FF0000"/>
                </a:solidFill>
                <a:latin typeface="Arial"/>
                <a:cs typeface="Arial"/>
              </a:rPr>
              <a:t>Null hypothesis (H</a:t>
            </a:r>
            <a:r>
              <a:rPr lang="en-GB" sz="2000" b="0" baseline="-25000" dirty="0">
                <a:solidFill>
                  <a:srgbClr val="FF0000"/>
                </a:solidFill>
                <a:latin typeface="Arial"/>
                <a:cs typeface="Arial"/>
              </a:rPr>
              <a:t>0</a:t>
            </a:r>
            <a:r>
              <a:rPr lang="en-GB" sz="2000" b="0" dirty="0">
                <a:solidFill>
                  <a:srgbClr val="FF0000"/>
                </a:solidFill>
                <a:latin typeface="Arial"/>
                <a:cs typeface="Arial"/>
              </a:rPr>
              <a:t>): There is no </a:t>
            </a:r>
            <a:r>
              <a:rPr lang="en-GB" sz="2000" b="0" dirty="0">
                <a:solidFill>
                  <a:srgbClr val="FF0000"/>
                </a:solidFill>
                <a:ea typeface="+mn-lt"/>
                <a:cs typeface="+mn-lt"/>
              </a:rPr>
              <a:t>correlation between score and publications.</a:t>
            </a:r>
            <a:endParaRPr lang="en-US">
              <a:cs typeface="Arial" panose="020B0604020202020204"/>
            </a:endParaRPr>
          </a:p>
          <a:p>
            <a:pPr>
              <a:lnSpc>
                <a:spcPct val="100000"/>
              </a:lnSpc>
            </a:pPr>
            <a:r>
              <a:rPr lang="en-GB" sz="2000" b="0" dirty="0">
                <a:solidFill>
                  <a:srgbClr val="FF0000"/>
                </a:solidFill>
                <a:ea typeface="+mn-lt"/>
                <a:cs typeface="+mn-lt"/>
              </a:rPr>
              <a:t>2.    Alt hypothesis (H</a:t>
            </a:r>
            <a:r>
              <a:rPr lang="en-GB" sz="2000" b="0" baseline="-25000" dirty="0">
                <a:solidFill>
                  <a:srgbClr val="FF0000"/>
                </a:solidFill>
                <a:ea typeface="+mn-lt"/>
                <a:cs typeface="+mn-lt"/>
              </a:rPr>
              <a:t>1</a:t>
            </a:r>
            <a:r>
              <a:rPr lang="en-GB" sz="2000" b="0" dirty="0">
                <a:solidFill>
                  <a:srgbClr val="FF0000"/>
                </a:solidFill>
                <a:ea typeface="+mn-lt"/>
                <a:cs typeface="+mn-lt"/>
              </a:rPr>
              <a:t>): There is a correlation between score and publications.</a:t>
            </a:r>
            <a:endParaRPr lang="en-GB">
              <a:cs typeface="Arial" panose="020B0604020202020204"/>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6" name="TextBox 5">
            <a:extLst>
              <a:ext uri="{FF2B5EF4-FFF2-40B4-BE49-F238E27FC236}">
                <a16:creationId xmlns:a16="http://schemas.microsoft.com/office/drawing/2014/main" id="{1841CE34-1B2E-88D5-0C3F-506E8C37BB7B}"/>
              </a:ext>
            </a:extLst>
          </p:cNvPr>
          <p:cNvSpPr txBox="1"/>
          <p:nvPr/>
        </p:nvSpPr>
        <p:spPr>
          <a:xfrm>
            <a:off x="3356146" y="5298491"/>
            <a:ext cx="7811780" cy="1477328"/>
          </a:xfrm>
          <a:prstGeom prst="rect">
            <a:avLst/>
          </a:prstGeom>
          <a:noFill/>
        </p:spPr>
        <p:txBody>
          <a:bodyPr wrap="square" lIns="91440" tIns="45720" rIns="91440" bIns="45720" anchor="t">
            <a:spAutoFit/>
          </a:bodyPr>
          <a:lstStyle/>
          <a:p>
            <a:r>
              <a:rPr lang="en-GB"/>
              <a:t>L</a:t>
            </a:r>
            <a:r>
              <a:rPr lang="en-GB" sz="1800" b="0"/>
              <a:t>eave the hypotheses as </a:t>
            </a:r>
            <a:r>
              <a:rPr lang="en-GB"/>
              <a:t>two </a:t>
            </a:r>
            <a:r>
              <a:rPr lang="en-GB" sz="1800" b="0"/>
              <a:t>statements for now – after your </a:t>
            </a:r>
            <a:r>
              <a:rPr lang="en-GB"/>
              <a:t>statistical </a:t>
            </a:r>
            <a:r>
              <a:rPr lang="en-GB" sz="1800" b="0"/>
              <a:t>analysis </a:t>
            </a:r>
            <a:r>
              <a:rPr lang="en-GB"/>
              <a:t>test, </a:t>
            </a:r>
            <a:r>
              <a:rPr lang="en-GB" sz="1800" b="0"/>
              <a:t>you </a:t>
            </a:r>
            <a:r>
              <a:rPr lang="en-GB"/>
              <a:t>will </a:t>
            </a:r>
            <a:r>
              <a:rPr lang="en-GB" sz="1800" b="0"/>
              <a:t>choose one or the other.</a:t>
            </a:r>
            <a:r>
              <a:rPr lang="en-GB"/>
              <a:t> (</a:t>
            </a:r>
            <a:r>
              <a:rPr lang="en-GB" i="1"/>
              <a:t>You will report: "We fail to reject the null hypothesis" with no significant result, or if you do have significance [p-value = &lt; 0.05] you can state "We reject the null hypothesis".   More guidance on hypothesis testing is given in the lectures</a:t>
            </a:r>
            <a:r>
              <a:rPr lang="en-GB"/>
              <a:t>.)</a:t>
            </a:r>
            <a:endParaRPr lang="en-GB">
              <a:cs typeface="Arial"/>
            </a:endParaRPr>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Slides>
  <Notes>4</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Herts Theme</vt:lpstr>
      <vt:lpstr>Research Question –  Tutorial Presentation for Feedback Date: 17 Nov 2025 </vt:lpstr>
      <vt:lpstr>PowerPoint Presentation</vt:lpstr>
      <vt:lpstr>This dataset is interesting to us because (one sentence): It allows us to explore whether research productivity influences overall university performance scores.  From the column headings in your dataset choose ONE independent * and ONE dependent variable .  Our  Independent variable is: publications                    This  Independent variable datatype is (select one): Interval/Measurement (numeric ratio data) Our Dependent variable is: score                    This Dependent variable datatype is  (select one): Interval/measurement data</vt:lpstr>
      <vt:lpstr> Interval/Ordinal vs Interval/Ordinal: “Is there a correlation between [score] and [publications]”.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revision>268</cp:revision>
  <dcterms:created xsi:type="dcterms:W3CDTF">2019-10-01T08:37:56Z</dcterms:created>
  <dcterms:modified xsi:type="dcterms:W3CDTF">2025-11-17T14:07:13Z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