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
  </p:notesMasterIdLst>
  <p:handoutMasterIdLst>
    <p:handoutMasterId r:id="rId11"/>
  </p:handoutMasterIdLst>
  <p:sldIdLst>
    <p:sldId id="289" r:id="rId5"/>
    <p:sldId id="340" r:id="rId6"/>
    <p:sldId id="329" r:id="rId7"/>
    <p:sldId id="336" r:id="rId8"/>
    <p:sldId id="34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51A682-8182-EDD3-62B3-204FFE2A58E1}" v="38" dt="2025-12-11T16:58:33.8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 orient="horz" pos="3249"/>
        <p:guide pos="7068"/>
        <p:guide orient="horz" pos="138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ant Zwe Naing [Student-PECS]" userId="S::kn24abc@herts.ac.uk::8454762f-2936-43f3-8873-85b9058faef2" providerId="AD" clId="Web-{F0922858-671E-6E10-D9D0-300851181EB8}"/>
    <pc:docChg chg="modSld">
      <pc:chgData name="Khant Zwe Naing [Student-PECS]" userId="S::kn24abc@herts.ac.uk::8454762f-2936-43f3-8873-85b9058faef2" providerId="AD" clId="Web-{F0922858-671E-6E10-D9D0-300851181EB8}" dt="2025-12-01T09:37:09.201" v="2" actId="20577"/>
      <pc:docMkLst>
        <pc:docMk/>
      </pc:docMkLst>
      <pc:sldChg chg="modSp">
        <pc:chgData name="Khant Zwe Naing [Student-PECS]" userId="S::kn24abc@herts.ac.uk::8454762f-2936-43f3-8873-85b9058faef2" providerId="AD" clId="Web-{F0922858-671E-6E10-D9D0-300851181EB8}" dt="2025-12-01T09:37:09.201" v="2" actId="20577"/>
        <pc:sldMkLst>
          <pc:docMk/>
          <pc:sldMk cId="32494612" sldId="336"/>
        </pc:sldMkLst>
        <pc:spChg chg="mod">
          <ac:chgData name="Khant Zwe Naing [Student-PECS]" userId="S::kn24abc@herts.ac.uk::8454762f-2936-43f3-8873-85b9058faef2" providerId="AD" clId="Web-{F0922858-671E-6E10-D9D0-300851181EB8}" dt="2025-12-01T09:37:09.201" v="2" actId="20577"/>
          <ac:spMkLst>
            <pc:docMk/>
            <pc:sldMk cId="32494612" sldId="336"/>
            <ac:spMk id="5" creationId="{3440DA25-F620-152B-DE9E-776F7B74DFF0}"/>
          </ac:spMkLst>
        </pc:spChg>
      </pc:sldChg>
    </pc:docChg>
  </pc:docChgLst>
  <pc:docChgLst>
    <pc:chgData name="Khant Zwe Naing [Student-PECS]" userId="S::kn24abc@herts.ac.uk::8454762f-2936-43f3-8873-85b9058faef2" providerId="AD" clId="Web-{AC7D26E1-A62C-5DA1-73F9-11F135F603F0}"/>
    <pc:docChg chg="modSld">
      <pc:chgData name="Khant Zwe Naing [Student-PECS]" userId="S::kn24abc@herts.ac.uk::8454762f-2936-43f3-8873-85b9058faef2" providerId="AD" clId="Web-{AC7D26E1-A62C-5DA1-73F9-11F135F603F0}" dt="2025-12-01T06:10:52.244" v="315" actId="20577"/>
      <pc:docMkLst>
        <pc:docMk/>
      </pc:docMkLst>
      <pc:sldChg chg="modSp">
        <pc:chgData name="Khant Zwe Naing [Student-PECS]" userId="S::kn24abc@herts.ac.uk::8454762f-2936-43f3-8873-85b9058faef2" providerId="AD" clId="Web-{AC7D26E1-A62C-5DA1-73F9-11F135F603F0}" dt="2025-12-01T05:47:09.717" v="15" actId="20577"/>
        <pc:sldMkLst>
          <pc:docMk/>
          <pc:sldMk cId="4148532546" sldId="289"/>
        </pc:sldMkLst>
        <pc:spChg chg="mod">
          <ac:chgData name="Khant Zwe Naing [Student-PECS]" userId="S::kn24abc@herts.ac.uk::8454762f-2936-43f3-8873-85b9058faef2" providerId="AD" clId="Web-{AC7D26E1-A62C-5DA1-73F9-11F135F603F0}" dt="2025-12-01T05:46:53.154" v="5" actId="20577"/>
          <ac:spMkLst>
            <pc:docMk/>
            <pc:sldMk cId="4148532546" sldId="289"/>
            <ac:spMk id="2" creationId="{3440AEE4-CC66-FE42-B0C3-2CC7AFD37D1C}"/>
          </ac:spMkLst>
        </pc:spChg>
        <pc:spChg chg="mod">
          <ac:chgData name="Khant Zwe Naing [Student-PECS]" userId="S::kn24abc@herts.ac.uk::8454762f-2936-43f3-8873-85b9058faef2" providerId="AD" clId="Web-{AC7D26E1-A62C-5DA1-73F9-11F135F603F0}" dt="2025-12-01T05:47:01.264" v="11" actId="20577"/>
          <ac:spMkLst>
            <pc:docMk/>
            <pc:sldMk cId="4148532546" sldId="289"/>
            <ac:spMk id="3" creationId="{8275DA97-5166-7F4B-BC83-F50AC8BEDCD7}"/>
          </ac:spMkLst>
        </pc:spChg>
        <pc:spChg chg="mod">
          <ac:chgData name="Khant Zwe Naing [Student-PECS]" userId="S::kn24abc@herts.ac.uk::8454762f-2936-43f3-8873-85b9058faef2" providerId="AD" clId="Web-{AC7D26E1-A62C-5DA1-73F9-11F135F603F0}" dt="2025-12-01T05:47:09.717" v="15" actId="20577"/>
          <ac:spMkLst>
            <pc:docMk/>
            <pc:sldMk cId="4148532546" sldId="289"/>
            <ac:spMk id="4" creationId="{6E7F4D14-5620-EC41-A86C-6CC3CFD691B4}"/>
          </ac:spMkLst>
        </pc:spChg>
      </pc:sldChg>
      <pc:sldChg chg="modSp">
        <pc:chgData name="Khant Zwe Naing [Student-PECS]" userId="S::kn24abc@herts.ac.uk::8454762f-2936-43f3-8873-85b9058faef2" providerId="AD" clId="Web-{AC7D26E1-A62C-5DA1-73F9-11F135F603F0}" dt="2025-12-01T06:02:43.529" v="296" actId="20577"/>
        <pc:sldMkLst>
          <pc:docMk/>
          <pc:sldMk cId="1718004908" sldId="329"/>
        </pc:sldMkLst>
        <pc:spChg chg="mod ord">
          <ac:chgData name="Khant Zwe Naing [Student-PECS]" userId="S::kn24abc@herts.ac.uk::8454762f-2936-43f3-8873-85b9058faef2" providerId="AD" clId="Web-{AC7D26E1-A62C-5DA1-73F9-11F135F603F0}" dt="2025-12-01T05:52:53.273" v="225"/>
          <ac:spMkLst>
            <pc:docMk/>
            <pc:sldMk cId="1718004908" sldId="329"/>
            <ac:spMk id="2" creationId="{7D9D8228-727F-1E46-B5AD-91D158B8255E}"/>
          </ac:spMkLst>
        </pc:spChg>
        <pc:spChg chg="mod ord">
          <ac:chgData name="Khant Zwe Naing [Student-PECS]" userId="S::kn24abc@herts.ac.uk::8454762f-2936-43f3-8873-85b9058faef2" providerId="AD" clId="Web-{AC7D26E1-A62C-5DA1-73F9-11F135F603F0}" dt="2025-12-01T06:02:43.529" v="296" actId="20577"/>
          <ac:spMkLst>
            <pc:docMk/>
            <pc:sldMk cId="1718004908" sldId="329"/>
            <ac:spMk id="3" creationId="{00EBC183-8AA5-EC44-9987-D65F5C1892A1}"/>
          </ac:spMkLst>
        </pc:spChg>
        <pc:spChg chg="ord">
          <ac:chgData name="Khant Zwe Naing [Student-PECS]" userId="S::kn24abc@herts.ac.uk::8454762f-2936-43f3-8873-85b9058faef2" providerId="AD" clId="Web-{AC7D26E1-A62C-5DA1-73F9-11F135F603F0}" dt="2025-12-01T05:52:58.601" v="227"/>
          <ac:spMkLst>
            <pc:docMk/>
            <pc:sldMk cId="1718004908" sldId="329"/>
            <ac:spMk id="4" creationId="{CC9D9611-42EE-7840-81EE-DD6B1A99CD7B}"/>
          </ac:spMkLst>
        </pc:spChg>
        <pc:spChg chg="mod ord">
          <ac:chgData name="Khant Zwe Naing [Student-PECS]" userId="S::kn24abc@herts.ac.uk::8454762f-2936-43f3-8873-85b9058faef2" providerId="AD" clId="Web-{AC7D26E1-A62C-5DA1-73F9-11F135F603F0}" dt="2025-12-01T05:54:06.682" v="252" actId="20577"/>
          <ac:spMkLst>
            <pc:docMk/>
            <pc:sldMk cId="1718004908" sldId="329"/>
            <ac:spMk id="5" creationId="{B3FA3829-F12C-214D-8FBA-7E1A740F65CA}"/>
          </ac:spMkLst>
        </pc:spChg>
        <pc:spChg chg="ord">
          <ac:chgData name="Khant Zwe Naing [Student-PECS]" userId="S::kn24abc@herts.ac.uk::8454762f-2936-43f3-8873-85b9058faef2" providerId="AD" clId="Web-{AC7D26E1-A62C-5DA1-73F9-11F135F603F0}" dt="2025-12-01T05:52:58.632" v="228"/>
          <ac:spMkLst>
            <pc:docMk/>
            <pc:sldMk cId="1718004908" sldId="329"/>
            <ac:spMk id="6" creationId="{732D6C0D-D649-2AA9-7741-835F3E841A25}"/>
          </ac:spMkLst>
        </pc:spChg>
      </pc:sldChg>
      <pc:sldChg chg="addSp delSp modSp">
        <pc:chgData name="Khant Zwe Naing [Student-PECS]" userId="S::kn24abc@herts.ac.uk::8454762f-2936-43f3-8873-85b9058faef2" providerId="AD" clId="Web-{AC7D26E1-A62C-5DA1-73F9-11F135F603F0}" dt="2025-12-01T06:02:33.622" v="294" actId="20577"/>
        <pc:sldMkLst>
          <pc:docMk/>
          <pc:sldMk cId="32494612" sldId="336"/>
        </pc:sldMkLst>
        <pc:spChg chg="mod">
          <ac:chgData name="Khant Zwe Naing [Student-PECS]" userId="S::kn24abc@herts.ac.uk::8454762f-2936-43f3-8873-85b9058faef2" providerId="AD" clId="Web-{AC7D26E1-A62C-5DA1-73F9-11F135F603F0}" dt="2025-12-01T06:02:33.622" v="294" actId="20577"/>
          <ac:spMkLst>
            <pc:docMk/>
            <pc:sldMk cId="32494612" sldId="336"/>
            <ac:spMk id="3" creationId="{3C4D431B-7665-75B0-2D73-5BD588DCB766}"/>
          </ac:spMkLst>
        </pc:spChg>
        <pc:spChg chg="mod">
          <ac:chgData name="Khant Zwe Naing [Student-PECS]" userId="S::kn24abc@herts.ac.uk::8454762f-2936-43f3-8873-85b9058faef2" providerId="AD" clId="Web-{AC7D26E1-A62C-5DA1-73F9-11F135F603F0}" dt="2025-12-01T05:58:20.881" v="287" actId="20577"/>
          <ac:spMkLst>
            <pc:docMk/>
            <pc:sldMk cId="32494612" sldId="336"/>
            <ac:spMk id="5" creationId="{3440DA25-F620-152B-DE9E-776F7B74DFF0}"/>
          </ac:spMkLst>
        </pc:spChg>
        <pc:spChg chg="add mod">
          <ac:chgData name="Khant Zwe Naing [Student-PECS]" userId="S::kn24abc@herts.ac.uk::8454762f-2936-43f3-8873-85b9058faef2" providerId="AD" clId="Web-{AC7D26E1-A62C-5DA1-73F9-11F135F603F0}" dt="2025-12-01T06:02:05.403" v="289"/>
          <ac:spMkLst>
            <pc:docMk/>
            <pc:sldMk cId="32494612" sldId="336"/>
            <ac:spMk id="6" creationId="{CBD5684A-9DEC-B1AC-7EDA-12CB4AB67652}"/>
          </ac:spMkLst>
        </pc:spChg>
      </pc:sldChg>
      <pc:sldChg chg="addSp delSp modSp">
        <pc:chgData name="Khant Zwe Naing [Student-PECS]" userId="S::kn24abc@herts.ac.uk::8454762f-2936-43f3-8873-85b9058faef2" providerId="AD" clId="Web-{AC7D26E1-A62C-5DA1-73F9-11F135F603F0}" dt="2025-12-01T05:49:20.321" v="62" actId="20577"/>
        <pc:sldMkLst>
          <pc:docMk/>
          <pc:sldMk cId="713092616" sldId="340"/>
        </pc:sldMkLst>
        <pc:spChg chg="mod">
          <ac:chgData name="Khant Zwe Naing [Student-PECS]" userId="S::kn24abc@herts.ac.uk::8454762f-2936-43f3-8873-85b9058faef2" providerId="AD" clId="Web-{AC7D26E1-A62C-5DA1-73F9-11F135F603F0}" dt="2025-12-01T05:48:21.628" v="32" actId="20577"/>
          <ac:spMkLst>
            <pc:docMk/>
            <pc:sldMk cId="713092616" sldId="340"/>
            <ac:spMk id="3" creationId="{3C4D431B-7665-75B0-2D73-5BD588DCB766}"/>
          </ac:spMkLst>
        </pc:spChg>
        <pc:spChg chg="add mod">
          <ac:chgData name="Khant Zwe Naing [Student-PECS]" userId="S::kn24abc@herts.ac.uk::8454762f-2936-43f3-8873-85b9058faef2" providerId="AD" clId="Web-{AC7D26E1-A62C-5DA1-73F9-11F135F603F0}" dt="2025-12-01T05:49:20.321" v="62" actId="20577"/>
          <ac:spMkLst>
            <pc:docMk/>
            <pc:sldMk cId="713092616" sldId="340"/>
            <ac:spMk id="17" creationId="{BB91BC14-903B-D0C7-35C3-1F21B85CD622}"/>
          </ac:spMkLst>
        </pc:spChg>
        <pc:picChg chg="add">
          <ac:chgData name="Khant Zwe Naing [Student-PECS]" userId="S::kn24abc@herts.ac.uk::8454762f-2936-43f3-8873-85b9058faef2" providerId="AD" clId="Web-{AC7D26E1-A62C-5DA1-73F9-11F135F603F0}" dt="2025-12-01T05:48:08.063" v="28"/>
          <ac:picMkLst>
            <pc:docMk/>
            <pc:sldMk cId="713092616" sldId="340"/>
            <ac:picMk id="18" creationId="{59C9DE89-DCF1-1A5F-B6AD-A1FA91A6CFF4}"/>
          </ac:picMkLst>
        </pc:picChg>
      </pc:sldChg>
      <pc:sldChg chg="addSp modSp">
        <pc:chgData name="Khant Zwe Naing [Student-PECS]" userId="S::kn24abc@herts.ac.uk::8454762f-2936-43f3-8873-85b9058faef2" providerId="AD" clId="Web-{AC7D26E1-A62C-5DA1-73F9-11F135F603F0}" dt="2025-12-01T06:10:52.244" v="315" actId="20577"/>
        <pc:sldMkLst>
          <pc:docMk/>
          <pc:sldMk cId="2952338475" sldId="341"/>
        </pc:sldMkLst>
        <pc:spChg chg="mod">
          <ac:chgData name="Khant Zwe Naing [Student-PECS]" userId="S::kn24abc@herts.ac.uk::8454762f-2936-43f3-8873-85b9058faef2" providerId="AD" clId="Web-{AC7D26E1-A62C-5DA1-73F9-11F135F603F0}" dt="2025-12-01T06:10:44.572" v="309" actId="20577"/>
          <ac:spMkLst>
            <pc:docMk/>
            <pc:sldMk cId="2952338475" sldId="341"/>
            <ac:spMk id="2" creationId="{6B64221B-D6D4-E382-A91A-99FF908D5475}"/>
          </ac:spMkLst>
        </pc:spChg>
        <pc:spChg chg="add mod">
          <ac:chgData name="Khant Zwe Naing [Student-PECS]" userId="S::kn24abc@herts.ac.uk::8454762f-2936-43f3-8873-85b9058faef2" providerId="AD" clId="Web-{AC7D26E1-A62C-5DA1-73F9-11F135F603F0}" dt="2025-12-01T06:10:52.244" v="315" actId="20577"/>
          <ac:spMkLst>
            <pc:docMk/>
            <pc:sldMk cId="2952338475" sldId="341"/>
            <ac:spMk id="3" creationId="{6F0A2FCA-1D7C-3B3E-7E51-C9EBFCB0C125}"/>
          </ac:spMkLst>
        </pc:spChg>
      </pc:sldChg>
    </pc:docChg>
  </pc:docChgLst>
  <pc:docChgLst>
    <pc:chgData name="Khant Zwe Naing [Student-PECS]" userId="S::kn24abc@herts.ac.uk::8454762f-2936-43f3-8873-85b9058faef2" providerId="AD" clId="Web-{B151A682-8182-EDD3-62B3-204FFE2A58E1}"/>
    <pc:docChg chg="delSld modSld">
      <pc:chgData name="Khant Zwe Naing [Student-PECS]" userId="S::kn24abc@herts.ac.uk::8454762f-2936-43f3-8873-85b9058faef2" providerId="AD" clId="Web-{B151A682-8182-EDD3-62B3-204FFE2A58E1}" dt="2025-12-11T16:58:33.846" v="37"/>
      <pc:docMkLst>
        <pc:docMk/>
      </pc:docMkLst>
      <pc:sldChg chg="modSp">
        <pc:chgData name="Khant Zwe Naing [Student-PECS]" userId="S::kn24abc@herts.ac.uk::8454762f-2936-43f3-8873-85b9058faef2" providerId="AD" clId="Web-{B151A682-8182-EDD3-62B3-204FFE2A58E1}" dt="2025-12-11T16:57:32.850" v="36" actId="20577"/>
        <pc:sldMkLst>
          <pc:docMk/>
          <pc:sldMk cId="32494612" sldId="336"/>
        </pc:sldMkLst>
        <pc:spChg chg="mod">
          <ac:chgData name="Khant Zwe Naing [Student-PECS]" userId="S::kn24abc@herts.ac.uk::8454762f-2936-43f3-8873-85b9058faef2" providerId="AD" clId="Web-{B151A682-8182-EDD3-62B3-204FFE2A58E1}" dt="2025-12-11T16:57:32.850" v="36" actId="20577"/>
          <ac:spMkLst>
            <pc:docMk/>
            <pc:sldMk cId="32494612" sldId="336"/>
            <ac:spMk id="5" creationId="{3440DA25-F620-152B-DE9E-776F7B74DFF0}"/>
          </ac:spMkLst>
        </pc:spChg>
      </pc:sldChg>
      <pc:sldChg chg="del">
        <pc:chgData name="Khant Zwe Naing [Student-PECS]" userId="S::kn24abc@herts.ac.uk::8454762f-2936-43f3-8873-85b9058faef2" providerId="AD" clId="Web-{B151A682-8182-EDD3-62B3-204FFE2A58E1}" dt="2025-12-11T16:58:33.846" v="37"/>
        <pc:sldMkLst>
          <pc:docMk/>
          <pc:sldMk cId="384748354" sldId="33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11/12/2025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11/12/2025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err="1"/>
              <a:t>likert</a:t>
            </a:r>
            <a:r>
              <a:rPr lang="en-GB"/>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a:p>
          <a:p>
            <a:r>
              <a:rPr lang="en-GB"/>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2667984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6</a:t>
            </a:fld>
            <a:endParaRPr lang="en-GB"/>
          </a:p>
        </p:txBody>
      </p:sp>
    </p:spTree>
    <p:extLst>
      <p:ext uri="{BB962C8B-B14F-4D97-AF65-F5344CB8AC3E}">
        <p14:creationId xmlns:p14="http://schemas.microsoft.com/office/powerpoint/2010/main" val="39394292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a:t>Research Question – </a:t>
            </a:r>
            <a:br>
              <a:rPr lang="en-US"/>
            </a:br>
            <a:r>
              <a:rPr lang="en-US" sz="4000"/>
              <a:t>Tutorial Presentation for Feedback</a:t>
            </a:r>
            <a:br>
              <a:rPr lang="en-US" sz="4000"/>
            </a:br>
            <a:r>
              <a:rPr lang="en-US" sz="2200"/>
              <a:t>Date: 1 /12/2025</a:t>
            </a:r>
            <a:br>
              <a:rPr lang="en-US" sz="8000"/>
            </a:br>
            <a:endParaRPr lang="en-US"/>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p:txBody>
          <a:bodyPr vert="horz" lIns="0" tIns="0" rIns="0" bIns="0" rtlCol="0" anchor="t">
            <a:noAutofit/>
          </a:bodyPr>
          <a:lstStyle/>
          <a:p>
            <a:r>
              <a:rPr lang="en-US" sz="2000"/>
              <a:t>Group Name:                                                            Name of Student Presenting: Khant Zwe Naing</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r>
              <a:rPr lang="en-GB"/>
              <a:t>7COM1079-2025  Student Group No: A28</a:t>
            </a:r>
            <a:endParaRPr lang="en-US"/>
          </a:p>
          <a:p>
            <a:r>
              <a:rPr lang="en-GB"/>
              <a:t>                    Names of Student Attendees  (all group should attend to get feedback): Adeleye Francis Adewuyi, Mercy Toluwani Idowu, Jatin Kumar, Muhammad Taha Mirza, Khant Zwe Naing</a:t>
            </a:r>
          </a:p>
          <a:p>
            <a:endParaRPr lang="en-GB">
              <a:cs typeface="Arial"/>
            </a:endParaRPr>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vert="horz" lIns="0" tIns="0" rIns="0" bIns="0" rtlCol="0" anchor="t">
            <a:noAutofit/>
          </a:bodyPr>
          <a:lstStyle/>
          <a:p>
            <a:pPr>
              <a:spcAft>
                <a:spcPts val="0"/>
              </a:spcAft>
            </a:pPr>
            <a:r>
              <a:rPr lang="en-GB">
                <a:solidFill>
                  <a:srgbClr val="203232"/>
                </a:solidFill>
                <a:cs typeface="Arial"/>
              </a:rPr>
              <a:t>Here is a sample of our dataset: </a:t>
            </a:r>
            <a:endParaRPr lang="en-GB" sz="1800">
              <a:solidFill>
                <a:srgbClr val="FF0000"/>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a:t>PRE 7COM1079-2025  Student Group No: A28</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17" name="TextBox 4">
            <a:extLst>
              <a:ext uri="{FF2B5EF4-FFF2-40B4-BE49-F238E27FC236}">
                <a16:creationId xmlns:a16="http://schemas.microsoft.com/office/drawing/2014/main" id="{BB91BC14-903B-D0C7-35C3-1F21B85CD622}"/>
              </a:ext>
            </a:extLst>
          </p:cNvPr>
          <p:cNvSpPr txBox="1"/>
          <p:nvPr/>
        </p:nvSpPr>
        <p:spPr>
          <a:xfrm>
            <a:off x="944485" y="1705552"/>
            <a:ext cx="10310298" cy="181588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a:buChar char="•"/>
            </a:pPr>
            <a:r>
              <a:rPr lang="en-US" sz="1600">
                <a:ea typeface="+mn-lt"/>
                <a:cs typeface="+mn-lt"/>
              </a:rPr>
              <a:t>We are using the dataset </a:t>
            </a:r>
            <a:r>
              <a:rPr lang="en-US" sz="1600" b="1">
                <a:ea typeface="+mn-lt"/>
                <a:cs typeface="+mn-lt"/>
              </a:rPr>
              <a:t>“cwurData.csv”</a:t>
            </a:r>
            <a:r>
              <a:rPr lang="en-US" sz="1600">
                <a:ea typeface="+mn-lt"/>
                <a:cs typeface="+mn-lt"/>
              </a:rPr>
              <a:t>, which contains global university ranking information.</a:t>
            </a:r>
            <a:endParaRPr lang="en-US" sz="1600">
              <a:cs typeface="Arial"/>
            </a:endParaRPr>
          </a:p>
          <a:p>
            <a:pPr marL="285750" indent="-285750">
              <a:buFont typeface="Arial"/>
              <a:buChar char="•"/>
            </a:pPr>
            <a:r>
              <a:rPr lang="en-US" sz="1600">
                <a:cs typeface="Arial"/>
              </a:rPr>
              <a:t>Columns/Variables we used for our research demo:</a:t>
            </a:r>
            <a:br>
              <a:rPr lang="en-US" sz="1600">
                <a:cs typeface="Arial"/>
              </a:rPr>
            </a:br>
            <a:r>
              <a:rPr lang="en-US" sz="1600">
                <a:cs typeface="Arial"/>
              </a:rPr>
              <a:t>Score</a:t>
            </a:r>
            <a:br>
              <a:rPr lang="en-US" sz="1600">
                <a:cs typeface="Arial"/>
              </a:rPr>
            </a:br>
            <a:r>
              <a:rPr lang="en-US" sz="1600">
                <a:cs typeface="Arial"/>
              </a:rPr>
              <a:t>Region ( will be derived from the "country" column using an R script)</a:t>
            </a:r>
          </a:p>
          <a:p>
            <a:endParaRPr lang="en-US" sz="1600">
              <a:cs typeface="Arial"/>
            </a:endParaRPr>
          </a:p>
          <a:p>
            <a:r>
              <a:rPr lang="en-US" sz="1600">
                <a:cs typeface="Arial"/>
              </a:rPr>
              <a:t>Our dataset contains 2200 roles , and Here is sample five rows from our Dataset:</a:t>
            </a:r>
            <a:br>
              <a:rPr lang="en-US" sz="1600">
                <a:cs typeface="Arial"/>
              </a:rPr>
            </a:br>
            <a:endParaRPr lang="en-US" sz="1600">
              <a:cs typeface="Arial"/>
            </a:endParaRPr>
          </a:p>
        </p:txBody>
      </p:sp>
      <p:pic>
        <p:nvPicPr>
          <p:cNvPr id="18" name="Picture 17" descr="A close-up of text&#10;&#10;AI-generated content may be incorrect.">
            <a:extLst>
              <a:ext uri="{FF2B5EF4-FFF2-40B4-BE49-F238E27FC236}">
                <a16:creationId xmlns:a16="http://schemas.microsoft.com/office/drawing/2014/main" id="{59C9DE89-DCF1-1A5F-B6AD-A1FA91A6CFF4}"/>
              </a:ext>
            </a:extLst>
          </p:cNvPr>
          <p:cNvPicPr>
            <a:picLocks noChangeAspect="1"/>
          </p:cNvPicPr>
          <p:nvPr/>
        </p:nvPicPr>
        <p:blipFill>
          <a:blip r:embed="rId3"/>
          <a:stretch>
            <a:fillRect/>
          </a:stretch>
        </p:blipFill>
        <p:spPr>
          <a:xfrm>
            <a:off x="1230767" y="3427639"/>
            <a:ext cx="9213396" cy="1717221"/>
          </a:xfrm>
          <a:prstGeom prst="rect">
            <a:avLst/>
          </a:prstGeom>
        </p:spPr>
      </p:pic>
    </p:spTree>
    <p:extLst>
      <p:ext uri="{BB962C8B-B14F-4D97-AF65-F5344CB8AC3E}">
        <p14:creationId xmlns:p14="http://schemas.microsoft.com/office/powerpoint/2010/main" val="713092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285092"/>
            <a:ext cx="10110240" cy="588024"/>
          </a:xfrm>
        </p:spPr>
        <p:txBody>
          <a:bodyPr vert="horz" lIns="0" tIns="0" rIns="0" bIns="0" rtlCol="0" anchor="t">
            <a:noAutofit/>
          </a:bodyPr>
          <a:lstStyle/>
          <a:p>
            <a:r>
              <a:rPr lang="en-US"/>
              <a:t>Dataset </a:t>
            </a:r>
            <a:r>
              <a:rPr lang="en-US">
                <a:solidFill>
                  <a:srgbClr val="203232"/>
                </a:solidFill>
              </a:rPr>
              <a:t>ID</a:t>
            </a:r>
            <a:r>
              <a:rPr lang="en-US" sz="1600">
                <a:solidFill>
                  <a:srgbClr val="FF0000"/>
                </a:solidFill>
              </a:rPr>
              <a:t>:   </a:t>
            </a:r>
            <a:r>
              <a:rPr lang="en-US" sz="2400">
                <a:solidFill>
                  <a:srgbClr val="FF0000"/>
                </a:solidFill>
              </a:rPr>
              <a:t>( DS276 , cwurData.csv)</a:t>
            </a: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91022"/>
            <a:ext cx="9129687" cy="230832"/>
          </a:xfrm>
        </p:spPr>
        <p:txBody>
          <a:bodyPr/>
          <a:lstStyle/>
          <a:p>
            <a:r>
              <a:rPr lang="en-GB"/>
              <a:t>7COM1079-2025  Student Group No: A28</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a:t>2</a:t>
            </a:r>
            <a:endParaRPr lang="en-GB"/>
          </a:p>
        </p:txBody>
      </p:sp>
      <p:sp>
        <p:nvSpPr>
          <p:cNvPr id="6" name="TextBox 5">
            <a:extLst>
              <a:ext uri="{FF2B5EF4-FFF2-40B4-BE49-F238E27FC236}">
                <a16:creationId xmlns:a16="http://schemas.microsoft.com/office/drawing/2014/main" id="{732D6C0D-D649-2AA9-7741-835F3E841A25}"/>
              </a:ext>
            </a:extLst>
          </p:cNvPr>
          <p:cNvSpPr txBox="1"/>
          <p:nvPr/>
        </p:nvSpPr>
        <p:spPr>
          <a:xfrm>
            <a:off x="6766560" y="5385816"/>
            <a:ext cx="4187952" cy="1200329"/>
          </a:xfrm>
          <a:prstGeom prst="rect">
            <a:avLst/>
          </a:prstGeom>
          <a:noFill/>
        </p:spPr>
        <p:txBody>
          <a:bodyPr wrap="square" rtlCol="0">
            <a:spAutoFit/>
          </a:bodyPr>
          <a:lstStyle/>
          <a:p>
            <a:r>
              <a:rPr lang="en-GB">
                <a:solidFill>
                  <a:schemeClr val="accent2">
                    <a:lumMod val="75000"/>
                  </a:schemeClr>
                </a:solidFill>
              </a:rPr>
              <a:t>*For comparison of two nominal variables and for comparison of proportions you use two (or more) independent variables (see next slide)</a:t>
            </a:r>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965288" y="1712681"/>
            <a:ext cx="11104341" cy="2598541"/>
          </a:xfrm>
        </p:spPr>
        <p:txBody>
          <a:bodyPr>
            <a:noAutofit/>
          </a:bodyPr>
          <a:lstStyle/>
          <a:p>
            <a:pPr>
              <a:lnSpc>
                <a:spcPct val="100000"/>
              </a:lnSpc>
            </a:pPr>
            <a:r>
              <a:rPr lang="en-US" sz="2400" b="0">
                <a:latin typeface="Calibri"/>
                <a:cs typeface="Calibri"/>
              </a:rPr>
              <a:t>This dataset is interesting to us because </a:t>
            </a:r>
            <a:r>
              <a:rPr lang="en-US" sz="2400" b="0">
                <a:solidFill>
                  <a:srgbClr val="FF0000"/>
                </a:solidFill>
                <a:latin typeface="Calibri"/>
                <a:cs typeface="Calibri"/>
              </a:rPr>
              <a:t>(one sentence): It enable us to explore whether universities from different world regions perform differently in global rankings , revealing </a:t>
            </a:r>
            <a:r>
              <a:rPr lang="en-US" sz="2400" b="0" err="1">
                <a:solidFill>
                  <a:srgbClr val="FF0000"/>
                </a:solidFill>
                <a:latin typeface="Calibri"/>
                <a:cs typeface="Calibri"/>
              </a:rPr>
              <a:t>geographicak</a:t>
            </a:r>
            <a:r>
              <a:rPr lang="en-US" sz="2400" b="0">
                <a:solidFill>
                  <a:srgbClr val="FF0000"/>
                </a:solidFill>
                <a:latin typeface="Calibri"/>
                <a:cs typeface="Calibri"/>
              </a:rPr>
              <a:t> patterns and inequalities in higher education performance across the world.</a:t>
            </a:r>
            <a:br>
              <a:rPr lang="en-US" sz="2400" b="0">
                <a:latin typeface="Calibri" panose="020F0502020204030204" pitchFamily="34" charset="0"/>
                <a:cs typeface="Calibri" panose="020F0502020204030204" pitchFamily="34" charset="0"/>
              </a:rPr>
            </a:br>
            <a:br>
              <a:rPr lang="en-US" sz="2400" b="0">
                <a:latin typeface="Calibri" panose="020F0502020204030204" pitchFamily="34" charset="0"/>
                <a:cs typeface="Calibri" panose="020F0502020204030204" pitchFamily="34" charset="0"/>
              </a:rPr>
            </a:br>
            <a:r>
              <a:rPr lang="en-US" sz="2400" b="0" i="1">
                <a:solidFill>
                  <a:schemeClr val="accent2">
                    <a:lumMod val="75000"/>
                  </a:schemeClr>
                </a:solidFill>
                <a:latin typeface="Calibri"/>
                <a:cs typeface="Calibri"/>
              </a:rPr>
              <a:t>From the column headings in your dataset choose ONE independent * and ONE dependent variable . </a:t>
            </a:r>
            <a:br>
              <a:rPr lang="en-US" sz="2400" b="0">
                <a:latin typeface="Calibri" panose="020F0502020204030204" pitchFamily="34" charset="0"/>
                <a:cs typeface="Calibri" panose="020F0502020204030204" pitchFamily="34" charset="0"/>
              </a:rPr>
            </a:br>
            <a:r>
              <a:rPr lang="en-US" sz="2400" b="0">
                <a:latin typeface="Calibri"/>
                <a:cs typeface="Calibri"/>
              </a:rPr>
              <a:t>Our  Independent variable is:  Region</a:t>
            </a:r>
            <a:r>
              <a:rPr lang="en-US" sz="2400" b="0">
                <a:solidFill>
                  <a:srgbClr val="203232"/>
                </a:solidFill>
                <a:latin typeface="Calibri"/>
                <a:cs typeface="Calibri"/>
              </a:rPr>
              <a:t>(Country)</a:t>
            </a:r>
            <a:br>
              <a:rPr lang="en-US" sz="2400" b="0">
                <a:solidFill>
                  <a:srgbClr val="203232"/>
                </a:solidFill>
                <a:latin typeface="Calibri"/>
                <a:cs typeface="Calibri"/>
              </a:rPr>
            </a:br>
            <a:r>
              <a:rPr lang="en-US" sz="2400" b="0">
                <a:solidFill>
                  <a:srgbClr val="203232"/>
                </a:solidFill>
                <a:latin typeface="Calibri"/>
                <a:cs typeface="Calibri"/>
              </a:rPr>
              <a:t> </a:t>
            </a:r>
            <a:r>
              <a:rPr lang="en-US" sz="2400" b="0">
                <a:solidFill>
                  <a:srgbClr val="FF0000"/>
                </a:solidFill>
                <a:latin typeface="Calibri"/>
                <a:cs typeface="Calibri"/>
              </a:rPr>
              <a:t>                  </a:t>
            </a:r>
            <a:r>
              <a:rPr lang="en-US" sz="2400" b="0">
                <a:latin typeface="Calibri"/>
                <a:cs typeface="Calibri"/>
              </a:rPr>
              <a:t>This  Independent variable datatype is (select one): </a:t>
            </a:r>
            <a:r>
              <a:rPr lang="en-US" sz="2400" b="0">
                <a:solidFill>
                  <a:srgbClr val="FF0000"/>
                </a:solidFill>
                <a:latin typeface="Calibri"/>
                <a:cs typeface="Calibri"/>
              </a:rPr>
              <a:t>Nominal/categorial </a:t>
            </a:r>
            <a:br>
              <a:rPr lang="en-US" sz="2400" b="0">
                <a:latin typeface="Calibri" panose="020F0502020204030204" pitchFamily="34" charset="0"/>
                <a:cs typeface="Calibri" panose="020F0502020204030204" pitchFamily="34" charset="0"/>
              </a:rPr>
            </a:br>
            <a:r>
              <a:rPr lang="en-US" sz="2400" b="0">
                <a:latin typeface="Calibri"/>
                <a:cs typeface="Calibri"/>
              </a:rPr>
              <a:t>Our Dependent variable is: </a:t>
            </a:r>
            <a:r>
              <a:rPr lang="en-US" sz="2400" b="0">
                <a:solidFill>
                  <a:srgbClr val="FF0000"/>
                </a:solidFill>
                <a:latin typeface="Calibri"/>
                <a:cs typeface="Calibri"/>
              </a:rPr>
              <a:t>Our Dependent variable is: CWUR Score  (Score)</a:t>
            </a:r>
            <a:br>
              <a:rPr lang="en-US" sz="2400" b="0">
                <a:latin typeface="Calibri" panose="020F0502020204030204" pitchFamily="34" charset="0"/>
                <a:cs typeface="Calibri" panose="020F0502020204030204" pitchFamily="34" charset="0"/>
              </a:rPr>
            </a:br>
            <a:r>
              <a:rPr lang="en-US" sz="2400" b="0">
                <a:solidFill>
                  <a:srgbClr val="FF0000"/>
                </a:solidFill>
                <a:latin typeface="Calibri"/>
                <a:cs typeface="Calibri"/>
              </a:rPr>
              <a:t>                   </a:t>
            </a:r>
            <a:r>
              <a:rPr lang="en-US" sz="2400" b="0">
                <a:latin typeface="Calibri"/>
                <a:cs typeface="Calibri"/>
              </a:rPr>
              <a:t>This Dependent variable datatype is  (select one): </a:t>
            </a:r>
            <a:r>
              <a:rPr lang="en-US" sz="2400" b="0">
                <a:solidFill>
                  <a:srgbClr val="203232"/>
                </a:solidFill>
                <a:latin typeface="Calibri"/>
                <a:cs typeface="Calibri"/>
              </a:rPr>
              <a:t>I</a:t>
            </a:r>
            <a:r>
              <a:rPr lang="en-US" sz="2400" b="0">
                <a:solidFill>
                  <a:srgbClr val="FF0000"/>
                </a:solidFill>
                <a:latin typeface="Calibri"/>
                <a:cs typeface="Calibri"/>
              </a:rPr>
              <a:t>nterval/measurement data</a:t>
            </a:r>
          </a:p>
        </p:txBody>
      </p:sp>
    </p:spTree>
    <p:extLst>
      <p:ext uri="{BB962C8B-B14F-4D97-AF65-F5344CB8AC3E}">
        <p14:creationId xmlns:p14="http://schemas.microsoft.com/office/powerpoint/2010/main" val="171800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a:lstStyle/>
          <a:p>
            <a:pPr>
              <a:spcAft>
                <a:spcPts val="0"/>
              </a:spcAft>
            </a:pPr>
            <a:r>
              <a:rPr lang="en-GB"/>
              <a:t>Our Research Question is </a:t>
            </a:r>
            <a:r>
              <a:rPr lang="en-GB" sz="1800">
                <a:solidFill>
                  <a:srgbClr val="FF0000"/>
                </a:solidFill>
              </a:rPr>
              <a:t>Choose ONE of the three templates below replacing the blue text with your variables – then add hypotheses as shown in next slide:</a:t>
            </a: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a:t>PRE 7COM1079-2025  Student Group No: A28</a:t>
            </a:r>
            <a:endParaRPr lang="en-GB">
              <a:cs typeface="Arial"/>
            </a:endParaRP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965289" y="1893914"/>
            <a:ext cx="10640594" cy="4187707"/>
          </a:xfrm>
        </p:spPr>
        <p:txBody>
          <a:bodyPr>
            <a:noAutofit/>
          </a:bodyPr>
          <a:lstStyle/>
          <a:p>
            <a:pPr>
              <a:lnSpc>
                <a:spcPct val="100000"/>
              </a:lnSpc>
            </a:pPr>
            <a:br>
              <a:rPr lang="en-IE" sz="2400" dirty="0">
                <a:effectLst/>
                <a:latin typeface="Calibri" panose="020F0502020204030204" pitchFamily="34" charset="0"/>
                <a:ea typeface="Calibri" panose="020F0502020204030204" pitchFamily="34" charset="0"/>
                <a:cs typeface="Times New Roman" panose="02020603050405020304" pitchFamily="18" charset="0"/>
              </a:rPr>
            </a:br>
            <a:r>
              <a:rPr lang="en-IE" sz="2400" dirty="0">
                <a:effectLst/>
                <a:latin typeface="Calibri"/>
                <a:ea typeface="Calibri"/>
                <a:cs typeface="Times New Roman"/>
              </a:rPr>
              <a:t>Template</a:t>
            </a:r>
            <a:r>
              <a:rPr lang="en-IE" sz="2400" baseline="30000" dirty="0">
                <a:effectLst/>
                <a:latin typeface="Calibri"/>
                <a:ea typeface="Calibri"/>
                <a:cs typeface="Times New Roman"/>
              </a:rPr>
              <a:t>2</a:t>
            </a:r>
            <a:r>
              <a:rPr lang="en-IE" sz="2400" dirty="0">
                <a:effectLst/>
                <a:latin typeface="Calibri"/>
                <a:ea typeface="Calibri"/>
                <a:cs typeface="Times New Roman"/>
              </a:rPr>
              <a:t> :</a:t>
            </a:r>
            <a:r>
              <a:rPr lang="en-IE" sz="2400" b="0" dirty="0">
                <a:effectLst/>
                <a:latin typeface="Calibri"/>
                <a:ea typeface="Calibri"/>
                <a:cs typeface="Times New Roman"/>
              </a:rPr>
              <a:t>Interval/Ordinal vs Nominal. data “Is there a difference in the mean of </a:t>
            </a:r>
            <a:r>
              <a:rPr lang="en-IE" sz="2400" b="0" dirty="0">
                <a:solidFill>
                  <a:srgbClr val="0070C0"/>
                </a:solidFill>
                <a:effectLst/>
                <a:latin typeface="Calibri"/>
                <a:ea typeface="Calibri"/>
                <a:cs typeface="Times New Roman"/>
              </a:rPr>
              <a:t>[</a:t>
            </a:r>
            <a:r>
              <a:rPr lang="en-IE" sz="2400" b="0" dirty="0">
                <a:solidFill>
                  <a:srgbClr val="0070C0"/>
                </a:solidFill>
                <a:latin typeface="Calibri"/>
                <a:ea typeface="Calibri"/>
                <a:cs typeface="Times New Roman"/>
              </a:rPr>
              <a:t>university rankings Score(</a:t>
            </a:r>
            <a:r>
              <a:rPr lang="en-IE" sz="2400" b="0" dirty="0" err="1">
                <a:solidFill>
                  <a:srgbClr val="0070C0"/>
                </a:solidFill>
                <a:latin typeface="Calibri"/>
                <a:ea typeface="Calibri"/>
                <a:cs typeface="Times New Roman"/>
              </a:rPr>
              <a:t>Center</a:t>
            </a:r>
            <a:r>
              <a:rPr lang="en-IE" sz="2400" b="0" dirty="0">
                <a:solidFill>
                  <a:srgbClr val="0070C0"/>
                </a:solidFill>
                <a:latin typeface="Calibri"/>
                <a:ea typeface="Calibri"/>
                <a:cs typeface="Times New Roman"/>
              </a:rPr>
              <a:t> of World University Rankings)]</a:t>
            </a:r>
            <a:r>
              <a:rPr lang="en-IE" sz="2400" b="0" dirty="0">
                <a:solidFill>
                  <a:srgbClr val="0070C0"/>
                </a:solidFill>
                <a:effectLst/>
                <a:latin typeface="Calibri"/>
                <a:ea typeface="Calibri"/>
                <a:cs typeface="Times New Roman"/>
              </a:rPr>
              <a:t> </a:t>
            </a:r>
            <a:r>
              <a:rPr lang="en-IE" sz="2400" b="0" dirty="0">
                <a:effectLst/>
                <a:latin typeface="Calibri"/>
                <a:ea typeface="Calibri"/>
                <a:cs typeface="Times New Roman"/>
              </a:rPr>
              <a:t>between</a:t>
            </a:r>
            <a:r>
              <a:rPr lang="en-IE" sz="2400" b="0" dirty="0">
                <a:latin typeface="Calibri"/>
                <a:ea typeface="Calibri"/>
                <a:cs typeface="Times New Roman"/>
              </a:rPr>
              <a:t> [universities from Asia] and [Universities from Europe]?”.</a:t>
            </a:r>
            <a:br>
              <a:rPr lang="en-GB" sz="2400" dirty="0">
                <a:effectLst/>
                <a:latin typeface="Calibri" panose="020F0502020204030204" pitchFamily="34" charset="0"/>
                <a:ea typeface="Calibri" panose="020F0502020204030204" pitchFamily="34" charset="0"/>
                <a:cs typeface="Times New Roman" panose="02020603050405020304" pitchFamily="18" charset="0"/>
              </a:rPr>
            </a:br>
            <a:endParaRPr lang="en-GB" sz="2400">
              <a:solidFill>
                <a:srgbClr val="FF0000"/>
              </a:solidFill>
            </a:endParaRPr>
          </a:p>
        </p:txBody>
      </p:sp>
      <p:sp>
        <p:nvSpPr>
          <p:cNvPr id="6" name="TextBox 5">
            <a:extLst>
              <a:ext uri="{FF2B5EF4-FFF2-40B4-BE49-F238E27FC236}">
                <a16:creationId xmlns:a16="http://schemas.microsoft.com/office/drawing/2014/main" id="{CBD5684A-9DEC-B1AC-7EDA-12CB4AB67652}"/>
              </a:ext>
            </a:extLst>
          </p:cNvPr>
          <p:cNvSpPr txBox="1"/>
          <p:nvPr/>
        </p:nvSpPr>
        <p:spPr>
          <a:xfrm>
            <a:off x="1102894" y="3408947"/>
            <a:ext cx="1010652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We chose this research question because the CWUR dataset (DS276), which ranks universities worldwide based on indicators such as overall score, research performance, and educational quality, allows us to compare mean scores across different world regions to examine possible geographical differences in global university performance.</a:t>
            </a:r>
          </a:p>
        </p:txBody>
      </p:sp>
    </p:spTree>
    <p:extLst>
      <p:ext uri="{BB962C8B-B14F-4D97-AF65-F5344CB8AC3E}">
        <p14:creationId xmlns:p14="http://schemas.microsoft.com/office/powerpoint/2010/main" val="32494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B64221B-D6D4-E382-A91A-99FF908D5475}"/>
              </a:ext>
            </a:extLst>
          </p:cNvPr>
          <p:cNvSpPr>
            <a:spLocks noGrp="1"/>
          </p:cNvSpPr>
          <p:nvPr>
            <p:ph type="subTitle" idx="1"/>
          </p:nvPr>
        </p:nvSpPr>
        <p:spPr>
          <a:xfrm>
            <a:off x="521219" y="284375"/>
            <a:ext cx="10406581" cy="1391600"/>
          </a:xfrm>
        </p:spPr>
        <p:txBody>
          <a:bodyPr vert="horz" lIns="0" tIns="0" rIns="0" bIns="0" rtlCol="0" anchor="t">
            <a:noAutofit/>
          </a:bodyPr>
          <a:lstStyle/>
          <a:p>
            <a:pPr>
              <a:lnSpc>
                <a:spcPct val="100000"/>
              </a:lnSpc>
            </a:pPr>
            <a:r>
              <a:rPr lang="en-GB" sz="2400" b="0">
                <a:latin typeface="Calibri"/>
                <a:cs typeface="Calibri"/>
              </a:rPr>
              <a:t>Add your </a:t>
            </a:r>
            <a:r>
              <a:rPr lang="en-GB" sz="2400">
                <a:latin typeface="Calibri"/>
                <a:cs typeface="Calibri"/>
              </a:rPr>
              <a:t>Hypotheses</a:t>
            </a:r>
            <a:r>
              <a:rPr lang="en-GB" sz="2400" b="0">
                <a:latin typeface="Calibri"/>
                <a:cs typeface="Calibri"/>
              </a:rPr>
              <a:t> to the previous RQ Slide  (both the Null and Alternative Hypotheses).  Here are definitions and examples. </a:t>
            </a:r>
            <a:r>
              <a:rPr lang="en-GB" sz="2400">
                <a:latin typeface="Calibri"/>
                <a:cs typeface="Calibri"/>
              </a:rPr>
              <a:t>Your hypothesis wording comes directly from your RQ</a:t>
            </a:r>
            <a:r>
              <a:rPr lang="en-GB" sz="2400" b="0">
                <a:latin typeface="Calibri"/>
                <a:cs typeface="Calibri"/>
              </a:rPr>
              <a:t>. This is the formal way of reporting the results of your inferential test statistics,  in which we report the </a:t>
            </a:r>
            <a:r>
              <a:rPr lang="en-GB" sz="2400" b="0" i="1">
                <a:latin typeface="Calibri"/>
                <a:cs typeface="Calibri"/>
              </a:rPr>
              <a:t>effect</a:t>
            </a:r>
            <a:r>
              <a:rPr lang="en-GB" sz="2400" b="0">
                <a:latin typeface="Calibri"/>
                <a:cs typeface="Calibri"/>
              </a:rPr>
              <a:t> the independent variable has on the dependent variable – </a:t>
            </a:r>
          </a:p>
          <a:p>
            <a:pPr marL="457200" indent="-457200">
              <a:lnSpc>
                <a:spcPct val="100000"/>
              </a:lnSpc>
              <a:buAutoNum type="arabicPeriod"/>
            </a:pPr>
            <a:r>
              <a:rPr lang="en-GB" sz="2000" b="0">
                <a:latin typeface="Arial"/>
                <a:cs typeface="Arial"/>
              </a:rPr>
              <a:t>Null hypothesis (H</a:t>
            </a:r>
            <a:r>
              <a:rPr lang="en-GB" sz="2000" b="0" baseline="-25000">
                <a:latin typeface="Arial"/>
                <a:cs typeface="Arial"/>
              </a:rPr>
              <a:t>0</a:t>
            </a:r>
            <a:r>
              <a:rPr lang="en-GB" sz="2000" b="0">
                <a:latin typeface="Arial"/>
                <a:cs typeface="Arial"/>
              </a:rPr>
              <a:t>):  </a:t>
            </a:r>
          </a:p>
          <a:p>
            <a:pPr>
              <a:lnSpc>
                <a:spcPct val="100000"/>
              </a:lnSpc>
            </a:pPr>
            <a:r>
              <a:rPr lang="en-GB" sz="2000" b="0">
                <a:solidFill>
                  <a:schemeClr val="tx1"/>
                </a:solidFill>
                <a:ea typeface="+mn-lt"/>
                <a:cs typeface="+mn-lt"/>
              </a:rPr>
              <a:t>There is </a:t>
            </a:r>
            <a:r>
              <a:rPr lang="en-GB" sz="2000">
                <a:solidFill>
                  <a:schemeClr val="tx1"/>
                </a:solidFill>
                <a:ea typeface="+mn-lt"/>
                <a:cs typeface="+mn-lt"/>
              </a:rPr>
              <a:t>no difference</a:t>
            </a:r>
            <a:r>
              <a:rPr lang="en-GB" sz="2000" b="0">
                <a:solidFill>
                  <a:schemeClr val="tx1"/>
                </a:solidFill>
                <a:ea typeface="+mn-lt"/>
                <a:cs typeface="+mn-lt"/>
              </a:rPr>
              <a:t> in the mean CWUR score between universities located in different world regions.</a:t>
            </a:r>
            <a:endParaRPr lang="en-GB">
              <a:solidFill>
                <a:schemeClr val="tx1"/>
              </a:solidFill>
              <a:ea typeface="+mn-lt"/>
              <a:cs typeface="+mn-lt"/>
            </a:endParaRPr>
          </a:p>
          <a:p>
            <a:pPr>
              <a:lnSpc>
                <a:spcPct val="100000"/>
              </a:lnSpc>
            </a:pPr>
            <a:r>
              <a:rPr lang="en-GB" sz="2000" b="0">
                <a:latin typeface="Arial"/>
                <a:cs typeface="Arial"/>
              </a:rPr>
              <a:t>2. Alternative hypothesis (H</a:t>
            </a:r>
            <a:r>
              <a:rPr lang="en-GB" sz="2000" b="0" baseline="-25000">
                <a:latin typeface="Arial"/>
                <a:cs typeface="Arial"/>
              </a:rPr>
              <a:t>1</a:t>
            </a:r>
            <a:r>
              <a:rPr lang="en-GB" sz="2000" b="0">
                <a:latin typeface="Arial"/>
                <a:cs typeface="Arial"/>
              </a:rPr>
              <a:t>):  </a:t>
            </a:r>
            <a:r>
              <a:rPr lang="en-GB" sz="2000" b="0">
                <a:ea typeface="+mn-lt"/>
                <a:cs typeface="+mn-lt"/>
              </a:rPr>
              <a:t>There </a:t>
            </a:r>
            <a:r>
              <a:rPr lang="en-GB" sz="2000">
                <a:ea typeface="+mn-lt"/>
                <a:cs typeface="+mn-lt"/>
              </a:rPr>
              <a:t>is a difference</a:t>
            </a:r>
            <a:r>
              <a:rPr lang="en-GB" sz="2000" b="0">
                <a:ea typeface="+mn-lt"/>
                <a:cs typeface="+mn-lt"/>
              </a:rPr>
              <a:t> in the mean CWUR score between universities located in different world regions.</a:t>
            </a:r>
          </a:p>
        </p:txBody>
      </p:sp>
      <p:sp>
        <p:nvSpPr>
          <p:cNvPr id="4" name="Slide Number Placeholder 3">
            <a:extLst>
              <a:ext uri="{FF2B5EF4-FFF2-40B4-BE49-F238E27FC236}">
                <a16:creationId xmlns:a16="http://schemas.microsoft.com/office/drawing/2014/main" id="{FF7EDF94-2B89-A21D-BBC0-E455C2D9893B}"/>
              </a:ext>
            </a:extLst>
          </p:cNvPr>
          <p:cNvSpPr>
            <a:spLocks noGrp="1"/>
          </p:cNvSpPr>
          <p:nvPr>
            <p:ph type="sldNum" sz="quarter" idx="12"/>
          </p:nvPr>
        </p:nvSpPr>
        <p:spPr>
          <a:xfrm>
            <a:off x="11269543" y="284375"/>
            <a:ext cx="558281" cy="221244"/>
          </a:xfrm>
        </p:spPr>
        <p:txBody>
          <a:bodyPr/>
          <a:lstStyle/>
          <a:p>
            <a:r>
              <a:rPr lang="en-US"/>
              <a:t>4</a:t>
            </a:r>
            <a:endParaRPr lang="en-GB"/>
          </a:p>
        </p:txBody>
      </p:sp>
      <p:sp>
        <p:nvSpPr>
          <p:cNvPr id="6" name="TextBox 5">
            <a:extLst>
              <a:ext uri="{FF2B5EF4-FFF2-40B4-BE49-F238E27FC236}">
                <a16:creationId xmlns:a16="http://schemas.microsoft.com/office/drawing/2014/main" id="{1841CE34-1B2E-88D5-0C3F-506E8C37BB7B}"/>
              </a:ext>
            </a:extLst>
          </p:cNvPr>
          <p:cNvSpPr txBox="1"/>
          <p:nvPr/>
        </p:nvSpPr>
        <p:spPr>
          <a:xfrm>
            <a:off x="3356146" y="5298491"/>
            <a:ext cx="7811780" cy="1477328"/>
          </a:xfrm>
          <a:prstGeom prst="rect">
            <a:avLst/>
          </a:prstGeom>
          <a:noFill/>
        </p:spPr>
        <p:txBody>
          <a:bodyPr wrap="square" lIns="91440" tIns="45720" rIns="91440" bIns="45720" anchor="t">
            <a:spAutoFit/>
          </a:bodyPr>
          <a:lstStyle/>
          <a:p>
            <a:r>
              <a:rPr lang="en-GB"/>
              <a:t>L</a:t>
            </a:r>
            <a:r>
              <a:rPr lang="en-GB" sz="1800" b="0"/>
              <a:t>eave the hypotheses as </a:t>
            </a:r>
            <a:r>
              <a:rPr lang="en-GB"/>
              <a:t>two </a:t>
            </a:r>
            <a:r>
              <a:rPr lang="en-GB" sz="1800" b="0"/>
              <a:t>statements for now – after your </a:t>
            </a:r>
            <a:r>
              <a:rPr lang="en-GB"/>
              <a:t>statistical </a:t>
            </a:r>
            <a:r>
              <a:rPr lang="en-GB" sz="1800" b="0"/>
              <a:t>analysis </a:t>
            </a:r>
            <a:r>
              <a:rPr lang="en-GB"/>
              <a:t>test, </a:t>
            </a:r>
            <a:r>
              <a:rPr lang="en-GB" sz="1800" b="0"/>
              <a:t>you </a:t>
            </a:r>
            <a:r>
              <a:rPr lang="en-GB"/>
              <a:t>will </a:t>
            </a:r>
            <a:r>
              <a:rPr lang="en-GB" sz="1800" b="0"/>
              <a:t>choose one or the other.</a:t>
            </a:r>
            <a:r>
              <a:rPr lang="en-GB"/>
              <a:t> (</a:t>
            </a:r>
            <a:r>
              <a:rPr lang="en-GB" i="1"/>
              <a:t>You will report: "We fail to reject the null hypothesis" with no significant result, or if you do have significance [p-value = &lt; 0.05] you can state "We reject the null hypothesis".   More guidance on hypothesis testing is given in the lectures</a:t>
            </a:r>
            <a:r>
              <a:rPr lang="en-GB"/>
              <a:t>.)</a:t>
            </a:r>
            <a:endParaRPr lang="en-GB">
              <a:cs typeface="Arial"/>
            </a:endParaRPr>
          </a:p>
        </p:txBody>
      </p:sp>
      <p:sp>
        <p:nvSpPr>
          <p:cNvPr id="3" name="TextBox 2">
            <a:extLst>
              <a:ext uri="{FF2B5EF4-FFF2-40B4-BE49-F238E27FC236}">
                <a16:creationId xmlns:a16="http://schemas.microsoft.com/office/drawing/2014/main" id="{6F0A2FCA-1D7C-3B3E-7E51-C9EBFCB0C125}"/>
              </a:ext>
            </a:extLst>
          </p:cNvPr>
          <p:cNvSpPr txBox="1"/>
          <p:nvPr/>
        </p:nvSpPr>
        <p:spPr>
          <a:xfrm>
            <a:off x="820615" y="3780692"/>
            <a:ext cx="984738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These hypotheses are used because comparing the mean CWUR scores across world regions allows us to test statistically whether geographical location influences overall university performance.</a:t>
            </a:r>
          </a:p>
        </p:txBody>
      </p:sp>
    </p:spTree>
    <p:extLst>
      <p:ext uri="{BB962C8B-B14F-4D97-AF65-F5344CB8AC3E}">
        <p14:creationId xmlns:p14="http://schemas.microsoft.com/office/powerpoint/2010/main" val="2952338475"/>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Props1.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3.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5</Slides>
  <Notes>4</Notes>
  <HiddenSlides>0</HiddenSlide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Herts Theme</vt:lpstr>
      <vt:lpstr>Research Question –  Tutorial Presentation for Feedback Date: 1 /12/2025 </vt:lpstr>
      <vt:lpstr>PowerPoint Presentation</vt:lpstr>
      <vt:lpstr>This dataset is interesting to us because (one sentence): It enable us to explore whether universities from different world regions perform differently in global rankings , revealing geographicak patterns and inequalities in higher education performance across the world.  From the column headings in your dataset choose ONE independent * and ONE dependent variable .  Our  Independent variable is:  Region(Country)                    This  Independent variable datatype is (select one): Nominal/categorial  Our Dependent variable is: Our Dependent variable is: CWUR Score  (Score)                    This Dependent variable datatype is  (select one): Interval/measurement data</vt:lpstr>
      <vt:lpstr> Template2 :Interval/Ordinal vs Nominal. data “Is there a difference in the mean of [university rankings Score(Center of World University Rankings)] between [universities from Asia] and [Universities from Europe]?”.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revision>12</cp:revision>
  <dcterms:created xsi:type="dcterms:W3CDTF">2019-10-01T08:37:56Z</dcterms:created>
  <dcterms:modified xsi:type="dcterms:W3CDTF">2025-12-11T16:58:34Z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